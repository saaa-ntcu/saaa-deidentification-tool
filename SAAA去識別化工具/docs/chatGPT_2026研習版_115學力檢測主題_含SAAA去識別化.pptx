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1000" r:id="rId69"/>
    <p:sldId id="1001" r:id="rId70"/>
    <p:sldId id="1002" r:id="rId71"/>
    <p:sldId id="1003" r:id="rId72"/>
    <p:sldId id="1004" r:id="rId73"/>
    <p:sldId id="1005" r:id="rId74"/>
    <p:sldId id="1006" r:id="rId75"/>
    <p:sldId id="1007" r:id="rId76"/>
    <p:sldId id="1008" r:id="rId77"/>
    <p:sldId id="1009" r:id="rId78"/>
    <p:sldId id="1010" r:id="rId79"/>
    <p:sldId id="1011" r:id="rId80"/>
    <p:sldId id="1012" r:id="rId81"/>
    <p:sldId id="1013" r:id="rId82"/>
    <p:sldId id="1014" r:id="rId83"/>
    <p:sldId id="1015" r:id="rId84"/>
    <p:sldId id="1016" r:id="rId85"/>
    <p:sldId id="1017" r:id="rId86"/>
    <p:sldId id="1018" r:id="rId87"/>
    <p:sldId id="1019" r:id="rId88"/>
    <p:sldId id="1020" r:id="rId89"/>
    <p:sldId id="1021" r:id="rId90"/>
    <p:sldId id="1022" r:id="rId91"/>
    <p:sldId id="1023" r:id="rId92"/>
    <p:sldId id="1024" r:id="rId93"/>
    <p:sldId id="1025" r:id="rId94"/>
    <p:sldId id="1026" r:id="rId95"/>
    <p:sldId id="1027" r:id="rId96"/>
    <p:sldId id="1028" r:id="rId97"/>
    <p:sldId id="1029" r:id="rId98"/>
    <p:sldId id="1030" r:id="rId99"/>
    <p:sldId id="1031" r:id="rId100"/>
    <p:sldId id="1032" r:id="rId101"/>
    <p:sldId id="1033" r:id="rId102"/>
    <p:sldId id="1034" r:id="rId103"/>
    <p:sldId id="1035" r:id="rId104"/>
    <p:sldId id="1036" r:id="rId105"/>
    <p:sldId id="1037" r:id="rId106"/>
    <p:sldId id="1038" r:id="rId107"/>
    <p:sldId id="1039" r:id="rId108"/>
    <p:sldId id="1040" r:id="rId109"/>
    <p:sldId id="1041" r:id="rId110"/>
    <p:sldId id="1042" r:id="rId111"/>
    <p:sldId id="1043" r:id="rId112"/>
    <p:sldId id="1044" r:id="rId113"/>
    <p:sldId id="1045" r:id="rId114"/>
    <p:sldId id="1046" r:id="rId115"/>
    <p:sldId id="1047" r:id="rId116"/>
    <p:sldId id="1048" r:id="rId117"/>
    <p:sldId id="1049" r:id="rId118"/>
    <p:sldId id="1050" r:id="rId119"/>
    <p:sldId id="1051" r:id="rId120"/>
    <p:sldId id="1052" r:id="rId121"/>
    <p:sldId id="1053" r:id="rId122"/>
    <p:sldId id="1054" r:id="rId123"/>
    <p:sldId id="1055" r:id="rId124"/>
    <p:sldId id="1056" r:id="rId125"/>
    <p:sldId id="1057" r:id="rId126"/>
    <p:sldId id="1058" r:id="rId127"/>
    <p:sldId id="1059" r:id="rId128"/>
    <p:sldId id="1060" r:id="rId129"/>
    <p:sldId id="1061" r:id="rId130"/>
    <p:sldId id="1062" r:id="rId131"/>
    <p:sldId id="1063" r:id="rId132"/>
    <p:sldId id="1064" r:id="rId133"/>
    <p:sldId id="1065" r:id="rId134"/>
    <p:sldId id="1066" r:id="rId135"/>
    <p:sldId id="1067" r:id="rId136"/>
    <p:sldId id="1068" r:id="rId137"/>
    <p:sldId id="1069" r:id="rId138"/>
    <p:sldId id="1070" r:id="rId139"/>
    <p:sldId id="1071" r:id="rId140"/>
    <p:sldId id="1072" r:id="rId1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69" Type="http://schemas.openxmlformats.org/officeDocument/2006/relationships/slide" Target="slides/slide1.xml"/>
  <Relationship Id="rId70" Type="http://schemas.openxmlformats.org/officeDocument/2006/relationships/slide" Target="slides/slide2.xml"/>
  <Relationship Id="rId71" Type="http://schemas.openxmlformats.org/officeDocument/2006/relationships/slide" Target="slides/slide3.xml"/>
  <Relationship Id="rId72" Type="http://schemas.openxmlformats.org/officeDocument/2006/relationships/slide" Target="slides/slide4.xml"/>
  <Relationship Id="rId73" Type="http://schemas.openxmlformats.org/officeDocument/2006/relationships/slide" Target="slides/slide5.xml"/>
  <Relationship Id="rId74" Type="http://schemas.openxmlformats.org/officeDocument/2006/relationships/slide" Target="slides/slide6.xml"/>
  <Relationship Id="rId75" Type="http://schemas.openxmlformats.org/officeDocument/2006/relationships/slide" Target="slides/slide7.xml"/>
  <Relationship Id="rId76" Type="http://schemas.openxmlformats.org/officeDocument/2006/relationships/slide" Target="slides/slide8.xml"/>
  <Relationship Id="rId77" Type="http://schemas.openxmlformats.org/officeDocument/2006/relationships/slide" Target="slides/slide9.xml"/>
  <Relationship Id="rId78" Type="http://schemas.openxmlformats.org/officeDocument/2006/relationships/slide" Target="slides/slide10.xml"/>
  <Relationship Id="rId79" Type="http://schemas.openxmlformats.org/officeDocument/2006/relationships/slide" Target="slides/slide11.xml"/>
  <Relationship Id="rId80" Type="http://schemas.openxmlformats.org/officeDocument/2006/relationships/slide" Target="slides/slide12.xml"/>
  <Relationship Id="rId81" Type="http://schemas.openxmlformats.org/officeDocument/2006/relationships/slide" Target="slides/slide13.xml"/>
  <Relationship Id="rId82" Type="http://schemas.openxmlformats.org/officeDocument/2006/relationships/slide" Target="slides/slide14.xml"/>
  <Relationship Id="rId83" Type="http://schemas.openxmlformats.org/officeDocument/2006/relationships/slide" Target="slides/slide15.xml"/>
  <Relationship Id="rId84" Type="http://schemas.openxmlformats.org/officeDocument/2006/relationships/slide" Target="slides/slide16.xml"/>
  <Relationship Id="rId85" Type="http://schemas.openxmlformats.org/officeDocument/2006/relationships/slide" Target="slides/slide17.xml"/>
  <Relationship Id="rId86" Type="http://schemas.openxmlformats.org/officeDocument/2006/relationships/slide" Target="slides/slide18.xml"/>
  <Relationship Id="rId87" Type="http://schemas.openxmlformats.org/officeDocument/2006/relationships/slide" Target="slides/slide19.xml"/>
  <Relationship Id="rId88" Type="http://schemas.openxmlformats.org/officeDocument/2006/relationships/slide" Target="slides/slide20.xml"/>
  <Relationship Id="rId89" Type="http://schemas.openxmlformats.org/officeDocument/2006/relationships/slide" Target="slides/slide21.xml"/>
  <Relationship Id="rId90" Type="http://schemas.openxmlformats.org/officeDocument/2006/relationships/slide" Target="slides/slide22.xml"/>
  <Relationship Id="rId91" Type="http://schemas.openxmlformats.org/officeDocument/2006/relationships/slide" Target="slides/slide23.xml"/>
  <Relationship Id="rId92" Type="http://schemas.openxmlformats.org/officeDocument/2006/relationships/slide" Target="slides/slide24.xml"/>
  <Relationship Id="rId93" Type="http://schemas.openxmlformats.org/officeDocument/2006/relationships/slide" Target="slides/slide25.xml"/>
  <Relationship Id="rId94" Type="http://schemas.openxmlformats.org/officeDocument/2006/relationships/slide" Target="slides/slide26.xml"/>
  <Relationship Id="rId95" Type="http://schemas.openxmlformats.org/officeDocument/2006/relationships/slide" Target="slides/slide27.xml"/>
  <Relationship Id="rId96" Type="http://schemas.openxmlformats.org/officeDocument/2006/relationships/slide" Target="slides/slide28.xml"/>
  <Relationship Id="rId97" Type="http://schemas.openxmlformats.org/officeDocument/2006/relationships/slide" Target="slides/slide29.xml"/>
  <Relationship Id="rId98" Type="http://schemas.openxmlformats.org/officeDocument/2006/relationships/slide" Target="slides/slide30.xml"/>
  <Relationship Id="rId99" Type="http://schemas.openxmlformats.org/officeDocument/2006/relationships/slide" Target="slides/slide31.xml"/>
  <Relationship Id="rId100" Type="http://schemas.openxmlformats.org/officeDocument/2006/relationships/slide" Target="slides/slide32.xml"/>
  <Relationship Id="rId101" Type="http://schemas.openxmlformats.org/officeDocument/2006/relationships/slide" Target="slides/slide33.xml"/>
  <Relationship Id="rId102" Type="http://schemas.openxmlformats.org/officeDocument/2006/relationships/slide" Target="slides/slide34.xml"/>
  <Relationship Id="rId103" Type="http://schemas.openxmlformats.org/officeDocument/2006/relationships/slide" Target="slides/slide35.xml"/>
  <Relationship Id="rId104" Type="http://schemas.openxmlformats.org/officeDocument/2006/relationships/slide" Target="slides/slide36.xml"/>
  <Relationship Id="rId105" Type="http://schemas.openxmlformats.org/officeDocument/2006/relationships/slide" Target="slides/slide37.xml"/>
  <Relationship Id="rId106" Type="http://schemas.openxmlformats.org/officeDocument/2006/relationships/slide" Target="slides/slide38.xml"/>
  <Relationship Id="rId107" Type="http://schemas.openxmlformats.org/officeDocument/2006/relationships/slide" Target="slides/slide39.xml"/>
  <Relationship Id="rId108" Type="http://schemas.openxmlformats.org/officeDocument/2006/relationships/slide" Target="slides/slide40.xml"/>
  <Relationship Id="rId109" Type="http://schemas.openxmlformats.org/officeDocument/2006/relationships/slide" Target="slides/slide41.xml"/>
  <Relationship Id="rId110" Type="http://schemas.openxmlformats.org/officeDocument/2006/relationships/slide" Target="slides/slide42.xml"/>
  <Relationship Id="rId111" Type="http://schemas.openxmlformats.org/officeDocument/2006/relationships/slide" Target="slides/slide43.xml"/>
  <Relationship Id="rId112" Type="http://schemas.openxmlformats.org/officeDocument/2006/relationships/slide" Target="slides/slide44.xml"/>
  <Relationship Id="rId113" Type="http://schemas.openxmlformats.org/officeDocument/2006/relationships/slide" Target="slides/slide45.xml"/>
  <Relationship Id="rId114" Type="http://schemas.openxmlformats.org/officeDocument/2006/relationships/slide" Target="slides/slide46.xml"/>
  <Relationship Id="rId115" Type="http://schemas.openxmlformats.org/officeDocument/2006/relationships/slide" Target="slides/slide47.xml"/>
  <Relationship Id="rId116" Type="http://schemas.openxmlformats.org/officeDocument/2006/relationships/slide" Target="slides/slide48.xml"/>
  <Relationship Id="rId117" Type="http://schemas.openxmlformats.org/officeDocument/2006/relationships/slide" Target="slides/slide49.xml"/>
  <Relationship Id="rId118" Type="http://schemas.openxmlformats.org/officeDocument/2006/relationships/slide" Target="slides/slide50.xml"/>
  <Relationship Id="rId119" Type="http://schemas.openxmlformats.org/officeDocument/2006/relationships/slide" Target="slides/slide51.xml"/>
  <Relationship Id="rId120" Type="http://schemas.openxmlformats.org/officeDocument/2006/relationships/slide" Target="slides/slide52.xml"/>
  <Relationship Id="rId121" Type="http://schemas.openxmlformats.org/officeDocument/2006/relationships/slide" Target="slides/slide53.xml"/>
  <Relationship Id="rId122" Type="http://schemas.openxmlformats.org/officeDocument/2006/relationships/slide" Target="slides/slide54.xml"/>
  <Relationship Id="rId123" Type="http://schemas.openxmlformats.org/officeDocument/2006/relationships/slide" Target="slides/slide55.xml"/>
  <Relationship Id="rId124" Type="http://schemas.openxmlformats.org/officeDocument/2006/relationships/slide" Target="slides/slide56.xml"/>
  <Relationship Id="rId125" Type="http://schemas.openxmlformats.org/officeDocument/2006/relationships/slide" Target="slides/slide57.xml"/>
  <Relationship Id="rId126" Type="http://schemas.openxmlformats.org/officeDocument/2006/relationships/slide" Target="slides/slide58.xml"/>
  <Relationship Id="rId127" Type="http://schemas.openxmlformats.org/officeDocument/2006/relationships/slide" Target="slides/slide59.xml"/>
  <Relationship Id="rId128" Type="http://schemas.openxmlformats.org/officeDocument/2006/relationships/slide" Target="slides/slide60.xml"/>
  <Relationship Id="rId129" Type="http://schemas.openxmlformats.org/officeDocument/2006/relationships/slide" Target="slides/slide61.xml"/>
  <Relationship Id="rId130" Type="http://schemas.openxmlformats.org/officeDocument/2006/relationships/slide" Target="slides/slide62.xml"/>
  <Relationship Id="rId131" Type="http://schemas.openxmlformats.org/officeDocument/2006/relationships/slide" Target="slides/slide63.xml"/>
  <Relationship Id="rId132" Type="http://schemas.openxmlformats.org/officeDocument/2006/relationships/slide" Target="slides/slide64.xml"/>
  <Relationship Id="rId133" Type="http://schemas.openxmlformats.org/officeDocument/2006/relationships/slide" Target="slides/slide65.xml"/>
  <Relationship Id="rId134" Type="http://schemas.openxmlformats.org/officeDocument/2006/relationships/slide" Target="slides/slide66.xml"/>
  <Relationship Id="rId135" Type="http://schemas.openxmlformats.org/officeDocument/2006/relationships/slide" Target="slides/slide67.xml"/>
  <Relationship Id="rId136" Type="http://schemas.openxmlformats.org/officeDocument/2006/relationships/slide" Target="slides/slide68.xml"/>
  <Relationship Id="rId137" Type="http://schemas.openxmlformats.org/officeDocument/2006/relationships/slide" Target="slides/slide69.xml"/>
  <Relationship Id="rId138" Type="http://schemas.openxmlformats.org/officeDocument/2006/relationships/slide" Target="slides/slide70.xml"/>
  <Relationship Id="rId139" Type="http://schemas.openxmlformats.org/officeDocument/2006/relationships/slide" Target="slides/slide71.xml"/>
  <Relationship Id="rId140" Type="http://schemas.openxmlformats.org/officeDocument/2006/relationships/slide" Target="slides/slide72.xml"/>
  <Relationship Id="rId141" Type="http://schemas.openxmlformats.org/officeDocument/2006/relationships/slide" Target="slides/slide73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image" Target="../media/image1.png"/>
  <Relationship Id="rId3" Type="http://schemas.openxmlformats.org/officeDocument/2006/relationships/slideLayout" Target="../slideLayouts/slideLayout7.xml"/>
</Relationships>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slideLayout" Target="../slideLayouts/slideLayout7.xml"/>
</Relationships>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1.png"/>
  <Relationship Id="rId4" Type="http://schemas.openxmlformats.org/officeDocument/2006/relationships/slideLayout" Target="../slideLayouts/slideLayout7.xml"/>
</Relationships>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2.png"/>
  <Relationship Id="rId4" Type="http://schemas.openxmlformats.org/officeDocument/2006/relationships/slideLayout" Target="../slideLayouts/slideLayout7.xml"/>
</Relationships>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3.png"/>
  <Relationship Id="rId4" Type="http://schemas.openxmlformats.org/officeDocument/2006/relationships/slideLayout" Target="../slideLayouts/slideLayout7.xml"/>
</Relationships>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4.png"/>
  <Relationship Id="rId4" Type="http://schemas.openxmlformats.org/officeDocument/2006/relationships/slideLayout" Target="../slideLayouts/slideLayout7.xml"/>
</Relationships>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5.png"/>
  <Relationship Id="rId4" Type="http://schemas.openxmlformats.org/officeDocument/2006/relationships/slideLayout" Target="../slideLayouts/slideLayout7.xml"/>
</Relationships>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6.png"/>
  <Relationship Id="rId4" Type="http://schemas.openxmlformats.org/officeDocument/2006/relationships/slideLayout" Target="../slideLayouts/slideLayout7.xml"/>
</Relationships>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7.png"/>
  <Relationship Id="rId4" Type="http://schemas.openxmlformats.org/officeDocument/2006/relationships/slideLayout" Target="../slideLayouts/slideLayout7.xml"/>
</Relationships>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8.png"/>
  <Relationship Id="rId4" Type="http://schemas.openxmlformats.org/officeDocument/2006/relationships/slideLayout" Target="../slideLayouts/slideLayout7.xml"/>
</Relationships>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slideLayout" Target="../slideLayouts/slideLayout7.xml"/>
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2" name="Picture 1" descr="bg_cover.png"/>
          <ns0:cNvPicPr>
            <ns1:picLocks noChangeAspect="1"/>
            <ns1:picLocks noSelect="1" noMove="1" noResize="1" noRot="1"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  <ns0:sp>
        <ns0:nvSpPr>
          <ns0:cNvPr id="3" name="Rounded Rectangle 2"/>
          <ns0:cNvSpPr/>
          <ns0:nvPr/>
        </ns0:nvSpPr>
        <ns0:spPr>
          <ns1:xfrm>
            <ns1:off x="640080" y="731520"/>
            <ns1:ext cx="3291840" cy="347472"/>
          </ns1:xfrm>
          <ns1:prstGeom prst="roundRect">
            <ns1:avLst/>
          </ns1:prstGeom>
          <ns1:solidFill>
            <ns1:srgbClr val="F5EBE6"/>
          </ns1:solidFill>
          <ns1:ln w="12700">
            <ns1:solidFill>
              <ns1:srgbClr val="C2410C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defRPr sz="1100" b="1">
                <ns1:solidFill>
                  <ns1:srgbClr val="B45309"/>
                </ns1:solidFill>
                <ns1:latin typeface="Microsoft JhengHei"/>
              </ns1:defRPr>
            </ns1:pPr>
            <ns1:r>
              <ns1:t>🌟 研習專用 ｜ 2026 學力檢測實務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621792" y="1188720"/>
            <ns1:ext cx="7772400" cy="777240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pPr>
              <ns1:defRPr sz="4400" b="1">
                <ns1:solidFill>
                  <ns1:srgbClr val="1E293B"/>
                </ns1:solidFill>
                <ns1:latin typeface="Microsoft JhengHei"/>
              </ns1:defRPr>
            </ns1:pPr>
            <ns1:r>
              <ns1:t>AI X 學力檢測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640080" y="2057400"/>
            <ns1:ext cx="7772400" cy="457200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pPr>
              <ns1:defRPr sz="2200" b="1">
                <ns1:solidFill>
                  <ns1:srgbClr val="866255"/>
                </ns1:solidFill>
                <ns1:latin typeface="Microsoft JhengHei"/>
              </ns1:defRPr>
            </ns1:pPr>
            <ns1:r>
              <ns1:t>運用 chatGPT work 進行學力檢測資料分析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2606040"/>
            <ns1:ext cx="6858000" cy="384048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2DCD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l">
              <ns1:defRPr sz="1200">
                <ns1:solidFill>
                  <ns1:srgbClr val="334155"/>
                </ns1:solidFill>
                <ns1:latin typeface="Microsoft JhengHei"/>
              </ns1:defRPr>
            </ns1:pPr>
            <ns1:r>
              <ns1:t>   💡 適合零基礎學員 ｜ 桌面版安裝、登入、模型選擇與 Work 入口</ns1:t>
            </ns1:r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40080" y="3154680"/>
            <ns1:ext cx="6858000" cy="22402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2DCD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68680" y="3291840"/>
            <ns1:ext cx="6400800" cy="320040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pPr>
              <ns1:defRPr sz="1500" b="1">
                <ns1:solidFill>
                  <ns1:srgbClr val="866255"/>
                </ns1:solidFill>
                <ns1:latin typeface="Microsoft JhengHei"/>
              </ns1:defRPr>
            </ns1:pPr>
            <ns1:r>
              <ns1:t>🎯 研習目標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68680" y="3703320"/>
            <ns1:ext cx="6400800" cy="320040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pPr>
              <ns1:defRPr sz="1200" b="1">
                <ns1:solidFill>
                  <ns1:srgbClr val="1E293B"/>
                </ns1:solidFill>
                <ns1:latin typeface="Microsoft JhengHei"/>
              </ns1:defRPr>
            </ns1:pPr>
            <ns1:r>
              <ns1:t>✓  能完成 ChatGPT 桌面版安裝與登入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868680" y="4087368"/>
            <ns1:ext cx="6400800" cy="320040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pPr>
              <ns1:defRPr sz="1200" b="1">
                <ns1:solidFill>
                  <ns1:srgbClr val="1E293B"/>
                </ns1:solidFill>
                <ns1:latin typeface="Microsoft JhengHei"/>
              </ns1:defRPr>
            </ns1:pPr>
            <ns1:r>
              <ns1:t>✓  能分辨 Chat、Work、Codex 的使用情境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868680" y="4471416"/>
            <ns1:ext cx="6400800" cy="320040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pPr>
              <ns1:defRPr sz="1200" b="1">
                <ns1:solidFill>
                  <ns1:srgbClr val="1E293B"/>
                </ns1:solidFill>
                <ns1:latin typeface="Microsoft JhengHei"/>
              </ns1:defRPr>
            </ns1:pPr>
            <ns1:r>
              <ns1:t>✓  能依任務選擇適合的 GPT 推理等級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868680" y="4855464"/>
            <ns1:ext cx="6400800" cy="320040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pPr>
              <ns1:defRPr sz="1200" b="1">
                <ns1:solidFill>
                  <ns1:srgbClr val="1E293B"/>
                </ns1:solidFill>
                <ns1:latin typeface="Microsoft JhengHei"/>
              </ns1:defRPr>
            </ns1:pPr>
            <ns1:r>
              <ns1:t>✓  能開始用 Work 產出學力檢測分析與 Dashboard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640080" y="5577840"/>
            <ns1:ext cx="5943600" cy="320040"/>
          </ns1:xfrm>
          <ns1:prstGeom prst="rect">
            <ns1:avLst/>
          </ns1:prstGeom>
          <ns1:noFill/>
        </ns0:spPr>
        <ns0:txBody>
          <ns1:bodyPr wrap="none" lIns="0" tIns="0" rIns="0" bIns="0">
            <ns1:spAutoFit/>
          </ns1:bodyPr>
          <ns1:lstStyle/>
          <ns1:p>
            <ns1:pPr>
              <ns1:defRPr sz="1100" b="1">
                <ns1:solidFill>
                  <ns1:srgbClr val="866255"/>
                </ns1:solidFill>
                <ns1:latin typeface="Microsoft JhengHei"/>
              </ns1:defRPr>
            </ns1:pPr>
            <ns1:r>
              <ns1:t>📅 研習日期：115.09.04（新竹縣學力研習）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pic>
        <ns0:nvPicPr>
          <ns0:cNvPr id="2" name="Picture 1" descr="bg_plain.png"/>
          <ns0:cNvPicPr>
            <ns1:picLocks noChangeAspect="1"/>
            <ns1:picLocks noSelect="1" noMove="1" noResize="1" noRot="1"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  <ns0:sp>
        <ns0:nvSpPr>
          <ns0:cNvPr id="3" name="TextBox 2"/>
          <ns0:cNvSpPr txBox="1"/>
          <ns0:nvPr/>
        </ns0:nvSpPr>
        <ns0:spPr>
          <ns1:xfrm>
            <ns1:off x="384048" y="164592"/>
            <ns1:ext cx="6858000" cy="219456"/>
          </ns1:xfrm>
          <ns1:prstGeom prst="rect">
            <ns1:avLst/>
          </ns1:prstGeom>
          <ns1:noFill/>
        </ns0:spPr>
        <ns0:txBody>
          <ns1:bodyPr wrap="square" lIns="0" tIns="0" rIns="0" bIns="0">
            <ns1:spAutoFit/>
          </ns1:bodyPr>
          <ns1:lstStyle/>
          <ns1:p>
            <ns1:pPr>
              <ns1:defRPr sz="1000" b="1">
                <ns1:solidFill>
                  <ns1:srgbClr val="866255"/>
                </ns1:solidFill>
                <ns1:latin typeface="Microsoft JhengHei"/>
              </ns1:defRPr>
            </ns1:pPr>
            <ns1:r>
              <ns1:t>課程導覽 ｜ 更新日：2026.09.03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384048" y="347472"/>
            <ns1:ext cx="7772400" cy="384048"/>
          </ns1:xfrm>
          <ns1:prstGeom prst="rect">
            <ns1:avLst/>
          </ns1:prstGeom>
          <ns1:noFill/>
        </ns0:spPr>
        <ns0:txBody>
          <ns1:bodyPr wrap="square" lIns="0" tIns="0" rIns="0" bIns="0">
            <ns1:spAutoFit/>
          </ns1:bodyPr>
          <ns1:lstStyle/>
          <ns1:p>
            <ns1:pPr>
              <ns1:defRPr sz="1800" b="1">
                <ns1:solidFill>
                  <ns1:srgbClr val="1E293B"/>
                </ns1:solidFill>
                <ns1:latin typeface="Microsoft JhengHei"/>
              </ns1:defRPr>
            </ns1:pPr>
            <ns1:r>
              <ns1:t>本次研習路線圖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384048" y="731520"/>
            <ns1:ext cx="8229600" cy="274320"/>
          </ns1:xfrm>
          <ns1:prstGeom prst="rect">
            <ns1:avLst/>
          </ns1:prstGeom>
          <ns1:noFill/>
        </ns0:spPr>
        <ns0:txBody>
          <ns1:bodyPr wrap="square" lIns="0" tIns="0" rIns="0" bIns="0">
            <ns1:spAutoFit/>
          </ns1:bodyPr>
          <ns1:lstStyle/>
          <ns1:p>
            <ns1:pPr>
              <ns1:defRPr sz="1100">
                <ns1:solidFill>
                  <ns1:srgbClr val="64748B"/>
                </ns1:solidFill>
                <ns1:latin typeface="Microsoft JhengHei"/>
              </ns1:defRPr>
            </ns1:pPr>
            <ns1:r>
              <ns1:t>從安裝到實作，用同一套工作流程走完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234440"/>
            <ns1:ext cx="10908792" cy="713232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2DCD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822960" y="1380744"/>
            <ns1:ext cx="594360" cy="420624"/>
          </ns1:xfrm>
          <ns1:prstGeom prst="roundRect">
            <ns1:avLst/>
          </ns1:prstGeom>
          <ns1:solidFill>
            <ns1:srgbClr val="B4530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defRPr sz="1300" b="1">
                <ns1:solidFill>
                  <ns1:srgbClr val="FFFFFF"/>
                </ns1:solidFill>
                <ns1:latin typeface="Microsoft JhengHei"/>
              </ns1:defRPr>
            </ns1:pPr>
            <ns1:r>
              <ns1:t>01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1600200" y="1399032"/>
            <ns1:ext cx="329184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400" b="1">
                <ns1:solidFill>
                  <ns1:srgbClr val="1E293B"/>
                </ns1:solidFill>
                <ns1:latin typeface="Microsoft JhengHei"/>
              </ns1:defRPr>
            </ns1:pPr>
            <ns1:r>
              <ns1:t>先看懂 AI 工具版圖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5029200" y="1417320"/>
            <ns1:ext cx="640080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64748B"/>
                </ns1:solidFill>
                <ns1:latin typeface="Microsoft JhengHei"/>
              </ns1:defRPr>
            </ns1:pPr>
            <ns1:r>
              <ns1:t>雲端、Work、本地端與 CLI 的分工與定位取捨</ns1:t>
            </ns1:r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640080" y="2039112"/>
            <ns1:ext cx="10908792" cy="713232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2DCD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822960" y="2185416"/>
            <ns1:ext cx="594360" cy="420624"/>
          </ns1:xfrm>
          <ns1:prstGeom prst="roundRect">
            <ns1:avLst/>
          </ns1:prstGeom>
          <ns1:solidFill>
            <ns1:srgbClr val="866255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defRPr sz="1300" b="1">
                <ns1:solidFill>
                  <ns1:srgbClr val="FFFFFF"/>
                </ns1:solidFill>
                <ns1:latin typeface="Microsoft JhengHei"/>
              </ns1:defRPr>
            </ns1:pPr>
            <ns1:r>
              <ns1:t>02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1600200" y="2203704"/>
            <ns1:ext cx="329184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400" b="1">
                <ns1:solidFill>
                  <ns1:srgbClr val="1E293B"/>
                </ns1:solidFill>
                <ns1:latin typeface="Microsoft JhengHei"/>
              </ns1:defRPr>
            </ns1:pPr>
            <ns1:r>
              <ns1:t>看懂 GPT-5.6 模型選擇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5029200" y="2221992"/>
            <ns1:ext cx="640080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64748B"/>
                </ns1:solidFill>
                <ns1:latin typeface="Microsoft JhengHei"/>
              </ns1:defRPr>
            </ns1:pPr>
            <ns1:r>
              <ns1:t>Sol、Terra、Luna 與推理等級匹配策略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40080" y="2843784"/>
            <ns1:ext cx="10908792" cy="713232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2DCD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822960" y="2990088"/>
            <ns1:ext cx="594360" cy="420624"/>
          </ns1:xfrm>
          <ns1:prstGeom prst="roundRect">
            <ns1:avLst/>
          </ns1:prstGeom>
          <ns1:solidFill>
            <ns1:srgbClr val="0F766E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defRPr sz="1300" b="1">
                <ns1:solidFill>
                  <ns1:srgbClr val="FFFFFF"/>
                </ns1:solidFill>
                <ns1:latin typeface="Microsoft JhengHei"/>
              </ns1:defRPr>
            </ns1:pPr>
            <ns1:r>
              <ns1:t>03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1600200" y="3008376"/>
            <ns1:ext cx="329184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400" b="1">
                <ns1:solidFill>
                  <ns1:srgbClr val="1E293B"/>
                </ns1:solidFill>
                <ns1:latin typeface="Microsoft JhengHei"/>
              </ns1:defRPr>
            </ns1:pPr>
            <ns1:r>
              <ns1:t>完成 ChatGPT 桌面版安裝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5029200" y="3026664"/>
            <ns1:ext cx="640080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64748B"/>
                </ns1:solidFill>
                <ns1:latin typeface="Microsoft JhengHei"/>
              </ns1:defRPr>
            </ns1:pPr>
            <ns1:r>
              <ns1:t>方法一與方法二，逐步圖文指引操作</ns1:t>
            </ns1:r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640080" y="3648456"/>
            <ns1:ext cx="10908792" cy="713232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2DCD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Rounded Rectangle 18"/>
          <ns0:cNvSpPr/>
          <ns0:nvPr/>
        </ns0:nvSpPr>
        <ns0:spPr>
          <ns1:xfrm>
            <ns1:off x="822960" y="3794760"/>
            <ns1:ext cx="594360" cy="420624"/>
          </ns1:xfrm>
          <ns1:prstGeom prst="roundRect">
            <ns1:avLst/>
          </ns1:prstGeom>
          <ns1:solidFill>
            <ns1:srgbClr val="1E3A8A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defRPr sz="1300" b="1">
                <ns1:solidFill>
                  <ns1:srgbClr val="FFFFFF"/>
                </ns1:solidFill>
                <ns1:latin typeface="Microsoft JhengHei"/>
              </ns1:defRPr>
            </ns1:pPr>
            <ns1:r>
              <ns1:t>04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1600200" y="3813048"/>
            <ns1:ext cx="329184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400" b="1">
                <ns1:solidFill>
                  <ns1:srgbClr val="1E293B"/>
                </ns1:solidFill>
                <ns1:latin typeface="Microsoft JhengHei"/>
              </ns1:defRPr>
            </ns1:pPr>
            <ns1:r>
              <ns1:t>登入與第一次設定</ns1:t>
            </ns1: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5029200" y="3831336"/>
            <ns1:ext cx="640080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64748B"/>
                </ns1:solidFill>
                <ns1:latin typeface="Microsoft JhengHei"/>
              </ns1:defRPr>
            </ns1:pPr>
            <ns1:r>
              <ns1:t>以第一次使用者為例，走完完整登入與偏好設定</ns1:t>
            </ns1:r>
          </ns1:p>
        </ns0:txBody>
      </ns0:sp>
      <ns0:sp>
        <ns0:nvSpPr>
          <ns0:cNvPr id="22" name="Rounded Rectangle 21"/>
          <ns0:cNvSpPr/>
          <ns0:nvPr/>
        </ns0:nvSpPr>
        <ns0:spPr>
          <ns1:xfrm>
            <ns1:off x="640080" y="4453128"/>
            <ns1:ext cx="10908792" cy="713232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2DCD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3" name="Rounded Rectangle 22"/>
          <ns0:cNvSpPr/>
          <ns0:nvPr/>
        </ns0:nvSpPr>
        <ns0:spPr>
          <ns1:xfrm>
            <ns1:off x="822960" y="4599432"/>
            <ns1:ext cx="594360" cy="420624"/>
          </ns1:xfrm>
          <ns1:prstGeom prst="roundRect">
            <ns1:avLst/>
          </ns1:prstGeom>
          <ns1:solidFill>
            <ns1:srgbClr val="7C2D1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defRPr sz="1300" b="1">
                <ns1:solidFill>
                  <ns1:srgbClr val="FFFFFF"/>
                </ns1:solidFill>
                <ns1:latin typeface="Microsoft JhengHei"/>
              </ns1:defRPr>
            </ns1:pPr>
            <ns1:r>
              <ns1:t>05</ns1:t>
            </ns1: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1600200" y="4617720"/>
            <ns1:ext cx="329184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400" b="1">
                <ns1:solidFill>
                  <ns1:srgbClr val="1E293B"/>
                </ns1:solidFill>
                <ns1:latin typeface="Microsoft JhengHei"/>
              </ns1:defRPr>
            </ns1:pPr>
            <ns1:r>
              <ns1:t>SAAA 去識別化與 Work 實作</ns1:t>
            </ns1:r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5029200" y="4636008"/>
            <ns1:ext cx="6400800" cy="36576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64748B"/>
                </ns1:solidFill>
                <ns1:latin typeface="Microsoft JhengHei"/>
              </ns1:defRPr>
            </ns1:pPr>
            <ns1:r>
              <ns1:t>在地端完成評量資料脫敏，再由 ChatGPT Work 產出學力分析與 Dashboard</ns1:t>
            </ns1:r>
          </ns1:p>
        </ns0:txBody>
      </ns0:sp>
      <ns0:sp>
        <ns0:nvSpPr>
          <ns0:cNvPr id="26" name="Rounded Rectangle 25"/>
          <ns0:cNvSpPr/>
          <ns0:nvPr/>
        </ns0:nvSpPr>
        <ns0:spPr>
          <ns1:xfrm>
            <ns1:off x="640080" y="5230368"/>
            <ns1:ext cx="10908792" cy="438912"/>
          </ns1:xfrm>
          <ns1:prstGeom prst="roundRect">
            <ns1:avLst/>
          </ns1:prstGeom>
          <ns1:solidFill>
            <ns1:srgbClr val="FEF3C7"/>
          </ns1:solidFill>
          <ns1:ln w="12700">
            <ns1:solidFill>
              <ns1:srgbClr val="F59E0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l">
              <ns1:defRPr sz="1100" b="1">
                <ns1:solidFill>
                  <ns1:srgbClr val="92400E"/>
                </ns1:solidFill>
                <ns1:latin typeface="Microsoft JhengHei"/>
              </ns1:defRPr>
            </ns1:pPr>
            <ns1:r>
              <ns1:t>   💡 講師提示：零基礎學員先掌握「入口」比背模型名稱更重要。先用 Chat 釐清問題，再用 Work 深入產出。</ns1:t>
            </ns1:r>
          </ns1:p>
        </ns0:txBody>
      </ns0:sp>
    </ns0:spTree>
  </ns0:cSld>
  <ns0:clrMapOvr>
    <ns1:masterClrMapping/>
  </ns0:clrMapOvr>
</ns0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2026 研習版資訊圖 ｜ 觀念比較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AI 工具怎麼選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雲端、Work、本地端與 CLI 的實務取捨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0879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40" y="1298448"/>
            <a:ext cx="757127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2026 研習版資訊圖 ｜ 觀念比較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GPT-5.6 家族比較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Sol、Terra、Luna 的定位與方案差異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0879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40" y="1298448"/>
            <a:ext cx="757127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2026 研習版資訊圖 ｜ 觀念比較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Chat、Work、Codex 怎麼選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先分入口，再選推理強度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0879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40" y="1298448"/>
            <a:ext cx="757127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安裝前準備 ｜ 檢核清單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安裝前 3 分鐘檢查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避免學員卡在帳號、權限或瀏覽器問題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564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548640" cy="32004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3560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帳號準備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20240"/>
            <a:ext cx="2999232" cy="1270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確認可收驗證信的 Email 帳號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記得帳號密碼或準備手機雙重驗證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若使用學校/教育帳號，先確認是否允許登入第三方服務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234440"/>
            <a:ext cx="34564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2" y="1463040"/>
            <a:ext cx="548640" cy="320040"/>
          </a:xfrm>
          <a:prstGeom prst="roundRect">
            <a:avLst/>
          </a:prstGeom>
          <a:solidFill>
            <a:srgbClr val="866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43560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電腦與網路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9432" y="1920240"/>
            <a:ext cx="2999232" cy="1270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21031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確認為 Windows 10/11 或 macOS 桌面環境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0175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能正常連線至 chatgpt.com 官方服務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9319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若在校內區域網路，先確認端口未被校園防火牆阻擋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1234440"/>
            <a:ext cx="34564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30184" y="1463040"/>
            <a:ext cx="54864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143560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權限與資料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30184" y="1920240"/>
            <a:ext cx="2999232" cy="1270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21031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確認具備本地電腦軟體安裝權限（Admin）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0175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截圖教學示範時，注意遮蔽學生姓名與個資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9319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未公開之正式試題與敏感資料嚴禁直接上傳雲端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230368"/>
            <a:ext cx="10908792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92400E"/>
                </a:solidFill>
                <a:latin typeface="Microsoft JhengHei"/>
              </a:defRPr>
            </a:pPr>
            <a:r>
              <a:t>   💡 講師提示：本研習以「能跟著做」優先，學員不需要先理解所有模型名稱，確認環境就緒即可順暢操作。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097280"/>
            <a:ext cx="2011680" cy="384048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2410C"/>
                </a:solidFill>
                <a:latin typeface="Microsoft JhengHe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27432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400" b="1">
                <a:solidFill>
                  <a:srgbClr val="C2410C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866255"/>
                </a:solidFill>
                <a:latin typeface="Microsoft JhengHei"/>
              </a:defRPr>
            </a:pPr>
            <a:r>
              <a:t>方法一：從官方入口開始，依畫面完成安裝。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685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   📌 接下來每一頁皆以「步驟編號 ＋ 操作截圖 ＋ 講師提示」呈現。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10:56:04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步驟進度：2/45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10:56:49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04332"/>
            <a:ext cx="8604504" cy="44322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步驟進度：3/45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10:58:40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步驟進度：4/45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11:01:35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步驟進度：5/45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11:03:52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5738"/>
            <a:ext cx="8604504" cy="462940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步驟進度：6/45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11:04:48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步驟進度：7/45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11:06:53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步驟進度：8/45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097280"/>
            <a:ext cx="2011680" cy="384048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2410C"/>
                </a:solidFill>
                <a:latin typeface="Microsoft JhengHe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27432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400" b="1">
                <a:solidFill>
                  <a:srgbClr val="C2410C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866255"/>
                </a:solidFill>
                <a:latin typeface="Microsoft JhengHei"/>
              </a:defRPr>
            </a:pPr>
            <a:r>
              <a:t>方法二：當方法一不順時，使用替代入口完成安裝。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685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   📌 使用微軟商店或替代下載通道，順利完成客戶端部署。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11:08:36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步驟進度：9/45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11:13:51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步驟進度：10/45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11:14:30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24" y="1005840"/>
            <a:ext cx="8460006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步驟進度：11/45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11:15:19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01" y="1005840"/>
            <a:ext cx="8473252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步驟進度：12/45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11:16:00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01" y="1005840"/>
            <a:ext cx="8473252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步驟進度：13/45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11:04:48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步驟進度：7/45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11:06:53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步驟進度：8/45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097280"/>
            <a:ext cx="2011680" cy="384048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2410C"/>
                </a:solidFill>
                <a:latin typeface="Microsoft JhengHe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27432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400" b="1">
                <a:solidFill>
                  <a:srgbClr val="C2410C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866255"/>
                </a:solidFill>
                <a:latin typeface="Microsoft JhengHei"/>
              </a:defRPr>
            </a:pPr>
            <a:r>
              <a:t>完成安裝後的第一次登入、偏好設定與介面導覽。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685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   📌 依序完成帳號授權、模型選擇與 Work 工作區準備。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11:24:02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步驟進度：14/45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11:25:25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步驟進度：15/45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11:27:45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步驟進度：16/45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11:29:19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步驟進度：17/45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11:30:49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步驟進度：18/45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11:31:31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步驟進度：19/45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11:31:55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步驟進度：20/45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11:34:07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步驟進度：21/45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11:34:47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步驟進度：22/45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11:36:06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步驟進度：23/45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11:37:19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步驟進度：24/45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11:42:53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步驟進度：25/45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11:45:39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步驟進度：26/45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11:46:53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步驟進度：27/45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11:48:33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76" y="1005840"/>
            <a:ext cx="7202702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步驟進度：28/45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11:49:30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步驟進度：29/45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11:51:04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步驟進度：30/45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11:51:28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5" y="1005840"/>
            <a:ext cx="8425884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步驟進度：31/45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11:52:36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步驟進度：32/45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11:52:59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步驟進度：33/45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11:53:59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步驟進度：34/45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11:55:11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步驟進度：35/45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11:56:52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步驟進度：36/45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11:57:49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步驟進度：37/45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11:58:57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步驟進度：38/45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11:59:57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步驟進度：39/45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12:00:58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步驟進度：40/45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12:01:50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步驟進度：41/45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12:02:49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步驟進度：42/45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12:03:19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步驟進度：43/45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12:04:25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步驟進度：44/45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收束與實作 ｜ 串接指南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下一步：把安裝流程接到 Work 實作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把工具選擇轉成「縣市學生學習能力檢測」資料分析成果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64208"/>
            <a:ext cx="640080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910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用 Chat 釐清需求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385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請 ChatGPT 協助整理「縣市學生學習能力檢測」資料分析目標與指標向度重點。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35808"/>
            <a:ext cx="640080" cy="457200"/>
          </a:xfrm>
          <a:prstGeom prst="roundRect">
            <a:avLst/>
          </a:prstGeom>
          <a:solidFill>
            <a:srgbClr val="866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626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用 Work 產出成果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101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上傳成果報告或範例資料檔，自動產出各向度得分摘要、統計圖表、分析簡報或 Dashboard。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407408"/>
            <a:ext cx="64008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342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必要時轉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817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只有在需要自動化批次處理、進階統計程式編寫或深度除錯時，再進入 Codex 執行。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731520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731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🌟 研習專用 ｜ 2026 SAAA 學力檢測實務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" y="117043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去識別化工具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9933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實機操作流程與資安防護指南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542032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54203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💡 支援 7 大類報表 · 100% 本機離線運算 · 零個資上傳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6949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200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研習目標與核心技能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58444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能理解 SAAA 7 大類報表特徵與「學生代碼實為中文姓名」之特殊架構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968496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能依分析情境正確切換「研究分析模式」與「公開資料模式」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4352544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能熟練執行 100% 本地離線去識別化與 Markdown 全格式匯出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7365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能恪守「對照總表校內密封、脫敏資料交付 AI」之資安雙軌鐵則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5321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 研習日期：115.09.04（新竹縣學力研習） ｜ 臺中教育大學 SAAA 研發團隊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課程導覽 ｜ 更新日：2026.09.03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本次操作與資安指引路線圖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從資料規格理解到 AI 安全交付，用同一套標準作業程序 (SOP) 走完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271016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271016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12984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SAAA 評量資料結構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0" y="12984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辨識個人成績、作答反應、答對率等 7 大類 Excel 與題本 PDF，掌握「代碼實存真名」之特殊架構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1929384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057400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057400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0020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檔案批次載入與動態分類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208483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一鍵拖曳整個評量資料夾，即時核對 6 大指標卡，確認全年級班級與科目檔案全數就緒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2715768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43784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284378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00200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去識別化模式取捨決策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287121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 AI 首選「研究分析模式」（跨科假名對齊），政府公開選「公開資料模式」（不可逆刪除）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350215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3630168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3630168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60020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機關別名與 Markdown 輸出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0" y="36576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隨機指派安全校名（如阿里山國小）、教育代碼 999999、移除座號，並產出可直接貼給 AI 的 Markdown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4288536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4416552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4416552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600200" y="4443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本機執行與對照總表密封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29200" y="444398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記憶體三階段處理＋隱私審計 100% 通過（0洩漏），並落實 mapping_table.xlsx 校內密件隔離存放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40080" y="5193792"/>
            <a:ext cx="10908792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193792"/>
            <a:ext cx="10908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💡 講師提示：交付外部 AI 時，學力檢測資料務必在地端完成脫敏，且 mapping_table 切勿交給 AI。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 拖曳評量資料夾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1_dropzone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確認右上角 100% 本地離線運算徽章，確保無任何個資上傳雲端。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直接將從 SAAA 匯出的整包資料夾或 .xlsx/.zip 拖曳進虛線框。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支援多班級、多年級、多科目報表混合同步匯入。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純前端 JavaScript 記憶體解析架構，拔掉網路線亦可高速運行。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步驟進度：1/8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01-1 查閱資料型態手冊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01-1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2_handbook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01-1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點擊手風琴展開 7 大類 Excel 與題本 PDF 結構對照表。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SAAA 特殊架構提醒：作答反應與答對率「學生代碼」欄位實為姓名。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卡片式個人成績 D3 座號清除時，完好保留 F3 等級描述。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工具專案適配「代碼欄位實存真名」現象，能自動進行姓名辨識與脫敏。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步驟進度：2/8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01-2 六大指標分類統計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01-2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3_files_summary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01-2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成功載入 10 份模擬資料 Excel 檔案。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分類計數：4 檔個人成績（108 位學生）、1 檔作答反應、2 檔答對率、1 檔班平均、2 檔試題分析。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右上角即時彈出綠色「成功載入 10 個評量檔案」提示通知。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分類指示卡協助教師在執行前一眼確認全年級檔案是否全數到位。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步驟進度：3/8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02 去識別化模式切換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4_modes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🔬 研究分析模式（推薦交付 AI）：生成跨科一致假名代碼（如 STU_115_0001）。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🌐 公開資料模式：徹底抹除姓名與座號，不產出對照表，達不可逆最高隱私。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嚴禁使用校內遮罩：交付外部 AI 嚴禁使用林*偉等部分遮蔽模式。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研究分析模式專為 AI 跨科診斷設計，同時產出離線對照總表供校端保管。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步驟進度：4/8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03 機關別名與格式微調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5_params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學校名稱由安全別名池隨機指派（如阿里山國小），鎖定唯讀防誤填。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學校代碼固定指派為標準教育虛擬代號 999999。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座號預設選擇「移除座號 (最高安全)」，杜絕個資拼圖。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輸出格式選擇「全格式」，同步產出輕量 Markdown 表格。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Markdown 格式精簡高效，可直接整表複製貼入 ChatGPT 對話框進行解析。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步驟進度：5/8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 啟動去識別化處理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6_execute_button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點擊藍色大按鈕「開始執行去識別化並打包下載」。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第一階段：全域掃描 108 位學生名冊並建立代碼映射表。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第二階段：逐檔轉換座標、標籤、表頭校名與生成多格式。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第三階段：全域隱私審計與 ZIP 壓縮封裝。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全程採用記憶體串流運算，百份報表亦可在數秒內無感完成。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步驟進度：6/8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04-1 成果彈窗與零洩漏保證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04-1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7_completion_modal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04-1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彈出 SweetAlert2 成果視窗，明確顯示處理 10 份檔案。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隱私安全稽核：100% 通過（原始校名、學生姓名洩漏次數均為 0）。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系統自動觸發 ZIP 壓縮檔案下載至本機硬碟。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提供「再次下載 ZIP」綠色按鈕備用。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零洩漏安全閘門確認所有輸出檔案無任何個資殘留，保障行政合規。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步驟進度：7/8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04-2 終端機日誌與對照總表SOP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04-2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8_terminal_log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04-2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終端機詳細記錄各階段運算耗時與全域隱私審計結果。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解壓後包含脫敏 Excel/JSON/MD 檔案與 mapping_table.xlsx。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⚠️ 對照總表隔離 SOP：mapping_table 記載真實姓名，切勿交付外部 AI！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對照總表務必留存在校端內部離線儲存媒體進行密件管理。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嚴格遵守「脫敏檔案交付 AI、對照總表校端密封」之資安雙軌原則。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步驟進度：8/8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研習總結 ｜ AI 時代評量資料去識別化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從行政合規到智慧教學的三大鐵則 (SOP)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確保資料在安全前提下發揮最大教學診斷價值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地端脫敏 · 絕不上傳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評量資料在進入任何 AI 模型前，必須在校端本地離線環境完成脫敏。嚴禁將含真實學生姓名之原始 SAAA 檔案直接上傳至任何未受權的公開雲端服務。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1772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跨科假名 · 拒絕遮罩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1772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交付外部 AI 應採用「研究分析模式」之跨科假名代碼（如 STU_115_0001），既能維繫學生向度學習輪廓，又能杜絕 AI 透過字數或關聯特徵反向破解。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2104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對照總表 · 密件隔離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2104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生成的 mapping_table.xlsx 記載真實身分對應關係，屬於校方法定個資。必須與脫敏檔案完全物理隔離，僅限校內受權行政人員離線保管。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097280"/>
            <a:ext cx="2011680" cy="384048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2410C"/>
                </a:solidFill>
                <a:latin typeface="Microsoft JhengHe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27432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400" b="1">
                <a:solidFill>
                  <a:srgbClr val="C2410C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Microsoft JhengHei"/>
              </a:defRPr>
            </a:pPr>
            <a:r>
              <a:t>實作階段：學力檢測分析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866255"/>
                </a:solidFill>
                <a:latin typeface="Microsoft JhengHei"/>
              </a:defRPr>
            </a:pPr>
            <a:r>
              <a:t>以真實評量數據為範例，進行實戰分析與成果產出。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685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   📌 匯入題項通過率與向度資料，實作迷思診斷與教學策略報告。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實作演練 ｜ 工作區建立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ChatGPT Work 現場實作演練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跟隨講師引導，開啟學力檢測資料分析專屬工作對話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4575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041" y="1298448"/>
            <a:ext cx="7130869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th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實作範例 ｜ 數學科評量資料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範例實作：以國小數學科為例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匯入班級題項通過率與向度得分，要求 ChatGPT Work 進行迷思概念診斷與補救建議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4575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344" y="1298448"/>
            <a:ext cx="4456263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hart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產出驗證 ｜ 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實作成果：學習表現診斷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完整呈現年級表現、班級差異與個別學生補救教學建議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4575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144" y="1298448"/>
            <a:ext cx="6908663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提示詞工程 ｜ 資料分析指南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讓 AI 幫你分析學力檢測資料的提示詞要點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掌握結構化提示詞 6 大關鍵要素，產出具備實質診斷與教學價值的分析報告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502920" cy="2743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99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📚 良好參考資料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提供官方學力檢測成果報告、完整題本、雙向細目表與能力向度指標，建立可靠事實基底。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1417320"/>
            <a:ext cx="502920" cy="274320"/>
          </a:xfrm>
          <a:prstGeom prst="roundRect">
            <a:avLst/>
          </a:prstGeom>
          <a:solidFill>
            <a:srgbClr val="866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1399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📊 待分析數據資料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28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匯入要分析的數據集（全校年級平均、各班平均、個人成績、題項通過率與答對率）。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234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1417320"/>
            <a:ext cx="5029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1399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🎯 精準角色與任務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828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明確角色定位（如測驗評量專家與學科輔導員），嚴格定義分析任務範圍與目標受眾。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703320"/>
            <a:ext cx="50292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85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🏫 多層次診斷架構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要求 AI 依照「學年巨觀概況 ➔ 班級群體差異 ➔ 個人精準診斷」三層架構循序解讀。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520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3712" y="3703320"/>
            <a:ext cx="502920" cy="274320"/>
          </a:xfrm>
          <a:prstGeom prst="round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3685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🔍 專業分析方法論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114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指定採用 TOWS 矩陣、學習難點歸因或作答型態分析，串接真實評量證據而非空泛建議。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4" y="3520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84464" y="3703320"/>
            <a:ext cx="502920" cy="2743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685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📝 產出規範與策略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114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明確要求具體列出學生學習優勢、劣勢迷思、教學策略，並約定報告結構與建議字數。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延伸應用 ｜ 實務改編指南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下一步：你可以這樣改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將數學科分析工作流程無縫遷移至其他科目與年級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64208"/>
            <a:ext cx="640080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910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📖 改換學科領域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385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把提示詞改為「國語科」或「英語科」（記得同步放入該學科對應之雙向細目表與試題成果資料）。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35808"/>
            <a:ext cx="640080" cy="457200"/>
          </a:xfrm>
          <a:prstGeom prst="roundRect">
            <a:avLst/>
          </a:prstGeom>
          <a:solidFill>
            <a:srgbClr val="866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626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🎓 套用不同年級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101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使用不同年級的學力檢測題本與向度資料，關注不同年段的核心素養銜接與學習斷層點。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407408"/>
            <a:ext cx="64008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342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📈 加入多元資料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817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加入校內段考、平時小考成績或補救教學追蹤紀錄，進行縱向發展診斷與介入成效驗證。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371600"/>
            <a:ext cx="2560320" cy="384048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45309"/>
                </a:solidFill>
                <a:latin typeface="Microsoft JhengHei"/>
              </a:defRPr>
            </a:pPr>
            <a:r>
              <a:t>🎉 研習圓滿完成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73152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5400" b="1">
                <a:solidFill>
                  <a:srgbClr val="1E293B"/>
                </a:solidFill>
                <a:latin typeface="Microsoft JhengHe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866255"/>
                </a:solidFill>
                <a:latin typeface="Microsoft JhengHei"/>
              </a:defRPr>
            </a:pPr>
            <a:r>
              <a:t>縣市學生學習能力檢測 命題與分析研習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6583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   🌟 期待在學力檢測資料分析與課堂教學實踐中，</a:t>
            </a:r>
            <a:br/>
            <a:r>
              <a:t>      看見各位教育夥伴的精彩應用與反思成果！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73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