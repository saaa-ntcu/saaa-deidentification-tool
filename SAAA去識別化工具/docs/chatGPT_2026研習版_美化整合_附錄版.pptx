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64"/>
  </p:notesMasterIdLst>
  <p:sldIdLst>
    <p:sldId id="1000" r:id="rId69"/>
    <p:sldId id="1001" r:id="rId70"/>
    <p:sldId id="1002" r:id="rId71"/>
    <p:sldId id="1003" r:id="rId72"/>
    <p:sldId id="1004" r:id="rId73"/>
    <p:sldId id="1005" r:id="rId74"/>
    <p:sldId id="1006" r:id="rId75"/>
    <p:sldId id="1007" r:id="rId76"/>
    <p:sldId id="1008" r:id="rId77"/>
    <p:sldId id="1009" r:id="rId78"/>
    <p:sldId id="1010" r:id="rId79"/>
    <p:sldId id="1011" r:id="rId80"/>
    <p:sldId id="1012" r:id="rId81"/>
    <p:sldId id="1013" r:id="rId82"/>
    <p:sldId id="1014" r:id="rId83"/>
    <p:sldId id="1015" r:id="rId84"/>
    <p:sldId id="1016" r:id="rId85"/>
    <p:sldId id="1017" r:id="rId86"/>
    <p:sldId id="1018" r:id="rId87"/>
    <p:sldId id="1019" r:id="rId88"/>
    <p:sldId id="1020" r:id="rId89"/>
    <p:sldId id="1021" r:id="rId90"/>
    <p:sldId id="1022" r:id="rId91"/>
    <p:sldId id="1023" r:id="rId92"/>
    <p:sldId id="1024" r:id="rId93"/>
    <p:sldId id="1025" r:id="rId94"/>
    <p:sldId id="1026" r:id="rId95"/>
    <p:sldId id="1027" r:id="rId96"/>
    <p:sldId id="1028" r:id="rId97"/>
    <p:sldId id="1029" r:id="rId98"/>
    <p:sldId id="1030" r:id="rId99"/>
    <p:sldId id="1031" r:id="rId100"/>
    <p:sldId id="1032" r:id="rId101"/>
    <p:sldId id="1033" r:id="rId102"/>
    <p:sldId id="1034" r:id="rId103"/>
    <p:sldId id="1035" r:id="rId104"/>
    <p:sldId id="1036" r:id="rId105"/>
    <p:sldId id="1037" r:id="rId106"/>
    <p:sldId id="1038" r:id="rId107"/>
    <p:sldId id="1039" r:id="rId108"/>
    <p:sldId id="1040" r:id="rId109"/>
    <p:sldId id="1041" r:id="rId110"/>
    <p:sldId id="1042" r:id="rId111"/>
    <p:sldId id="1043" r:id="rId112"/>
    <p:sldId id="1044" r:id="rId113"/>
    <p:sldId id="1045" r:id="rId114"/>
    <p:sldId id="1046" r:id="rId115"/>
    <p:sldId id="1047" r:id="rId116"/>
    <p:sldId id="1048" r:id="rId117"/>
    <p:sldId id="1049" r:id="rId118"/>
    <p:sldId id="1050" r:id="rId119"/>
    <p:sldId id="1051" r:id="rId120"/>
    <p:sldId id="1052" r:id="rId121"/>
    <p:sldId id="1053" r:id="rId122"/>
    <p:sldId id="1054" r:id="rId123"/>
    <p:sldId id="1055" r:id="rId124"/>
    <p:sldId id="1056" r:id="rId125"/>
    <p:sldId id="1057" r:id="rId126"/>
    <p:sldId id="1058" r:id="rId127"/>
    <p:sldId id="1059" r:id="rId128"/>
    <p:sldId id="1060" r:id="rId129"/>
    <p:sldId id="1061" r:id="rId130"/>
    <p:sldId id="1062" r:id="rId131"/>
    <p:sldId id="1063" r:id="rId132"/>
    <p:sldId id="1064" r:id="rId133"/>
    <p:sldId id="1065" r:id="rId134"/>
    <p:sldId id="1066" r:id="rId135"/>
    <p:sldId id="1067" r:id="rId136"/>
    <p:sldId id="1068" r:id="rId137"/>
    <p:sldId id="1069" r:id="rId138"/>
    <p:sldId id="1070" r:id="rId139"/>
    <p:sldId id="1071" r:id="rId140"/>
    <p:sldId id="1072" r:id="rId1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3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6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68" Type="http://schemas.openxmlformats.org/officeDocument/2006/relationships/tableStyles" Target="tableStyles.xml"/>
  <Relationship Id="rId66" Type="http://schemas.openxmlformats.org/officeDocument/2006/relationships/viewProps" Target="viewProps.xml"/>
  <Relationship Id="rId64" Type="http://schemas.openxmlformats.org/officeDocument/2006/relationships/notesMaster" Target="notesMasters/notesMaster1.xml"/>
  <Relationship Id="rId6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65" Type="http://schemas.openxmlformats.org/officeDocument/2006/relationships/presProps" Target="presProps.xml"/>
  <Relationship Id="rId69" Type="http://schemas.openxmlformats.org/officeDocument/2006/relationships/slide" Target="slides/slide1.xml"/>
  <Relationship Id="rId70" Type="http://schemas.openxmlformats.org/officeDocument/2006/relationships/slide" Target="slides/slide2.xml"/>
  <Relationship Id="rId71" Type="http://schemas.openxmlformats.org/officeDocument/2006/relationships/slide" Target="slides/slide3.xml"/>
  <Relationship Id="rId72" Type="http://schemas.openxmlformats.org/officeDocument/2006/relationships/slide" Target="slides/slide4.xml"/>
  <Relationship Id="rId73" Type="http://schemas.openxmlformats.org/officeDocument/2006/relationships/slide" Target="slides/slide5.xml"/>
  <Relationship Id="rId74" Type="http://schemas.openxmlformats.org/officeDocument/2006/relationships/slide" Target="slides/slide6.xml"/>
  <Relationship Id="rId75" Type="http://schemas.openxmlformats.org/officeDocument/2006/relationships/slide" Target="slides/slide7.xml"/>
  <Relationship Id="rId76" Type="http://schemas.openxmlformats.org/officeDocument/2006/relationships/slide" Target="slides/slide8.xml"/>
  <Relationship Id="rId77" Type="http://schemas.openxmlformats.org/officeDocument/2006/relationships/slide" Target="slides/slide9.xml"/>
  <Relationship Id="rId78" Type="http://schemas.openxmlformats.org/officeDocument/2006/relationships/slide" Target="slides/slide10.xml"/>
  <Relationship Id="rId79" Type="http://schemas.openxmlformats.org/officeDocument/2006/relationships/slide" Target="slides/slide11.xml"/>
  <Relationship Id="rId80" Type="http://schemas.openxmlformats.org/officeDocument/2006/relationships/slide" Target="slides/slide12.xml"/>
  <Relationship Id="rId81" Type="http://schemas.openxmlformats.org/officeDocument/2006/relationships/slide" Target="slides/slide13.xml"/>
  <Relationship Id="rId82" Type="http://schemas.openxmlformats.org/officeDocument/2006/relationships/slide" Target="slides/slide14.xml"/>
  <Relationship Id="rId83" Type="http://schemas.openxmlformats.org/officeDocument/2006/relationships/slide" Target="slides/slide15.xml"/>
  <Relationship Id="rId84" Type="http://schemas.openxmlformats.org/officeDocument/2006/relationships/slide" Target="slides/slide16.xml"/>
  <Relationship Id="rId85" Type="http://schemas.openxmlformats.org/officeDocument/2006/relationships/slide" Target="slides/slide17.xml"/>
  <Relationship Id="rId86" Type="http://schemas.openxmlformats.org/officeDocument/2006/relationships/slide" Target="slides/slide18.xml"/>
  <Relationship Id="rId87" Type="http://schemas.openxmlformats.org/officeDocument/2006/relationships/slide" Target="slides/slide19.xml"/>
  <Relationship Id="rId88" Type="http://schemas.openxmlformats.org/officeDocument/2006/relationships/slide" Target="slides/slide20.xml"/>
  <Relationship Id="rId89" Type="http://schemas.openxmlformats.org/officeDocument/2006/relationships/slide" Target="slides/slide21.xml"/>
  <Relationship Id="rId90" Type="http://schemas.openxmlformats.org/officeDocument/2006/relationships/slide" Target="slides/slide22.xml"/>
  <Relationship Id="rId91" Type="http://schemas.openxmlformats.org/officeDocument/2006/relationships/slide" Target="slides/slide23.xml"/>
  <Relationship Id="rId92" Type="http://schemas.openxmlformats.org/officeDocument/2006/relationships/slide" Target="slides/slide24.xml"/>
  <Relationship Id="rId93" Type="http://schemas.openxmlformats.org/officeDocument/2006/relationships/slide" Target="slides/slide25.xml"/>
  <Relationship Id="rId94" Type="http://schemas.openxmlformats.org/officeDocument/2006/relationships/slide" Target="slides/slide26.xml"/>
  <Relationship Id="rId95" Type="http://schemas.openxmlformats.org/officeDocument/2006/relationships/slide" Target="slides/slide27.xml"/>
  <Relationship Id="rId96" Type="http://schemas.openxmlformats.org/officeDocument/2006/relationships/slide" Target="slides/slide28.xml"/>
  <Relationship Id="rId97" Type="http://schemas.openxmlformats.org/officeDocument/2006/relationships/slide" Target="slides/slide29.xml"/>
  <Relationship Id="rId98" Type="http://schemas.openxmlformats.org/officeDocument/2006/relationships/slide" Target="slides/slide30.xml"/>
  <Relationship Id="rId99" Type="http://schemas.openxmlformats.org/officeDocument/2006/relationships/slide" Target="slides/slide31.xml"/>
  <Relationship Id="rId100" Type="http://schemas.openxmlformats.org/officeDocument/2006/relationships/slide" Target="slides/slide32.xml"/>
  <Relationship Id="rId101" Type="http://schemas.openxmlformats.org/officeDocument/2006/relationships/slide" Target="slides/slide33.xml"/>
  <Relationship Id="rId102" Type="http://schemas.openxmlformats.org/officeDocument/2006/relationships/slide" Target="slides/slide34.xml"/>
  <Relationship Id="rId103" Type="http://schemas.openxmlformats.org/officeDocument/2006/relationships/slide" Target="slides/slide35.xml"/>
  <Relationship Id="rId104" Type="http://schemas.openxmlformats.org/officeDocument/2006/relationships/slide" Target="slides/slide36.xml"/>
  <Relationship Id="rId105" Type="http://schemas.openxmlformats.org/officeDocument/2006/relationships/slide" Target="slides/slide37.xml"/>
  <Relationship Id="rId106" Type="http://schemas.openxmlformats.org/officeDocument/2006/relationships/slide" Target="slides/slide38.xml"/>
  <Relationship Id="rId107" Type="http://schemas.openxmlformats.org/officeDocument/2006/relationships/slide" Target="slides/slide39.xml"/>
  <Relationship Id="rId108" Type="http://schemas.openxmlformats.org/officeDocument/2006/relationships/slide" Target="slides/slide40.xml"/>
  <Relationship Id="rId109" Type="http://schemas.openxmlformats.org/officeDocument/2006/relationships/slide" Target="slides/slide41.xml"/>
  <Relationship Id="rId110" Type="http://schemas.openxmlformats.org/officeDocument/2006/relationships/slide" Target="slides/slide42.xml"/>
  <Relationship Id="rId111" Type="http://schemas.openxmlformats.org/officeDocument/2006/relationships/slide" Target="slides/slide43.xml"/>
  <Relationship Id="rId112" Type="http://schemas.openxmlformats.org/officeDocument/2006/relationships/slide" Target="slides/slide44.xml"/>
  <Relationship Id="rId113" Type="http://schemas.openxmlformats.org/officeDocument/2006/relationships/slide" Target="slides/slide45.xml"/>
  <Relationship Id="rId114" Type="http://schemas.openxmlformats.org/officeDocument/2006/relationships/slide" Target="slides/slide46.xml"/>
  <Relationship Id="rId115" Type="http://schemas.openxmlformats.org/officeDocument/2006/relationships/slide" Target="slides/slide47.xml"/>
  <Relationship Id="rId116" Type="http://schemas.openxmlformats.org/officeDocument/2006/relationships/slide" Target="slides/slide48.xml"/>
  <Relationship Id="rId117" Type="http://schemas.openxmlformats.org/officeDocument/2006/relationships/slide" Target="slides/slide49.xml"/>
  <Relationship Id="rId118" Type="http://schemas.openxmlformats.org/officeDocument/2006/relationships/slide" Target="slides/slide50.xml"/>
  <Relationship Id="rId119" Type="http://schemas.openxmlformats.org/officeDocument/2006/relationships/slide" Target="slides/slide51.xml"/>
  <Relationship Id="rId120" Type="http://schemas.openxmlformats.org/officeDocument/2006/relationships/slide" Target="slides/slide52.xml"/>
  <Relationship Id="rId121" Type="http://schemas.openxmlformats.org/officeDocument/2006/relationships/slide" Target="slides/slide53.xml"/>
  <Relationship Id="rId122" Type="http://schemas.openxmlformats.org/officeDocument/2006/relationships/slide" Target="slides/slide54.xml"/>
  <Relationship Id="rId123" Type="http://schemas.openxmlformats.org/officeDocument/2006/relationships/slide" Target="slides/slide55.xml"/>
  <Relationship Id="rId124" Type="http://schemas.openxmlformats.org/officeDocument/2006/relationships/slide" Target="slides/slide56.xml"/>
  <Relationship Id="rId125" Type="http://schemas.openxmlformats.org/officeDocument/2006/relationships/slide" Target="slides/slide57.xml"/>
  <Relationship Id="rId126" Type="http://schemas.openxmlformats.org/officeDocument/2006/relationships/slide" Target="slides/slide58.xml"/>
  <Relationship Id="rId127" Type="http://schemas.openxmlformats.org/officeDocument/2006/relationships/slide" Target="slides/slide59.xml"/>
  <Relationship Id="rId128" Type="http://schemas.openxmlformats.org/officeDocument/2006/relationships/slide" Target="slides/slide60.xml"/>
  <Relationship Id="rId129" Type="http://schemas.openxmlformats.org/officeDocument/2006/relationships/slide" Target="slides/slide61.xml"/>
  <Relationship Id="rId130" Type="http://schemas.openxmlformats.org/officeDocument/2006/relationships/slide" Target="slides/slide62.xml"/>
  <Relationship Id="rId131" Type="http://schemas.openxmlformats.org/officeDocument/2006/relationships/slide" Target="slides/slide63.xml"/>
  <Relationship Id="rId132" Type="http://schemas.openxmlformats.org/officeDocument/2006/relationships/slide" Target="slides/slide64.xml"/>
  <Relationship Id="rId133" Type="http://schemas.openxmlformats.org/officeDocument/2006/relationships/slide" Target="slides/slide65.xml"/>
  <Relationship Id="rId134" Type="http://schemas.openxmlformats.org/officeDocument/2006/relationships/slide" Target="slides/slide66.xml"/>
  <Relationship Id="rId135" Type="http://schemas.openxmlformats.org/officeDocument/2006/relationships/slide" Target="slides/slide67.xml"/>
  <Relationship Id="rId136" Type="http://schemas.openxmlformats.org/officeDocument/2006/relationships/slide" Target="slides/slide68.xml"/>
  <Relationship Id="rId137" Type="http://schemas.openxmlformats.org/officeDocument/2006/relationships/slide" Target="slides/slide69.xml"/>
  <Relationship Id="rId138" Type="http://schemas.openxmlformats.org/officeDocument/2006/relationships/slide" Target="slides/slide70.xml"/>
  <Relationship Id="rId139" Type="http://schemas.openxmlformats.org/officeDocument/2006/relationships/slide" Target="slides/slide71.xml"/>
  <Relationship Id="rId140" Type="http://schemas.openxmlformats.org/officeDocument/2006/relationships/slide" Target="slides/slide72.xml"/>
  <Relationship Id="rId141" Type="http://schemas.openxmlformats.org/officeDocument/2006/relationships/slide" Target="slides/slide7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651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Based on uploaded file chatGPT.pptx and updated official information sources listed in subsequent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OpenAI GPT-5.6 official release and availability/pricing information: https://openai.com/index/gpt-5-6/
OpenAI Help Center: ChatGPT Work and Codex: https://help.openai.com/en/articles/20001275-chatgpt-work-and-codex
OpenAI Help Center: GPT-5.6 in ChatGPT: https://help.openai.com/zh-hant/articles/20001354
Google Developers Blog: Transitioning Gemini CLI to Antigravity CLI: https://developers.googleblog.com/en/an-important-update-transitioning-gemini-cli-to-antigravity-cli/
Generated infographic image: 2026_ai_工具選擇比較指南.png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OpenAI GPT-5.6 official release and availability/pricing information: https://openai.com/index/gpt-5-6/
OpenAI Help Center: ChatGPT Work and Codex: https://help.openai.com/en/articles/20001275-chatgpt-work-and-codex
OpenAI Help Center: GPT-5.6 in ChatGPT: https://help.openai.com/zh-hant/articles/20001354
Google Developers Blog: Transitioning Gemini CLI to Antigravity CLI: https://developers.googleblog.com/en/an-important-update-transitioning-gemini-cli-to-antigravity-cli/
Generated infographic image: gpt_5.6_三模型比較資訊圖.png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OpenAI GPT-5.6 official release and availability/pricing information: https://openai.com/index/gpt-5-6/
OpenAI Help Center: ChatGPT Work and Codex: https://help.openai.com/en/articles/20001275-chatgpt-work-and-codex
OpenAI Help Center: GPT-5.6 in ChatGPT: https://help.openai.com/zh-hant/articles/20001354
Google Developers Blog: Transitioning Gemini CLI to Antigravity CLI: https://developers.googleblog.com/en/an-important-update-transitioning-gemini-cli-to-antigravity-cli/
Generated infographic image: chatgpt_2026_研習選擇指南.png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01; timestamp: 2026-09-03 10:56:04; original page marker: 2/45.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02; timestamp: 2026-09-03 10:56:49; original page marker: 3/45.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03; timestamp: 2026-09-03 10:58:40; original page marker: 4/45.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04; timestamp: 2026-09-03 11:01:35; original page marker: 5/45.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05; timestamp: 2026-09-03 11:03:52; original page marker: 6/45.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06; timestamp: 2026-09-03 11:04:48; original page marker: 7/45.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07; timestamp: 2026-09-03 11:06:53; original page marker: 8/45.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01; timestamp: 2026-09-03 11:08:36; original page marker: 9/45.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02; timestamp: 2026-09-03 11:13:51; original page marker: 10/45.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10; timestamp: 2026-09-03 11:14:30; original page marker: 11/45.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11; timestamp: 2026-09-03 11:15:19; original page marker: 12/45.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12; timestamp: 2026-09-03 11:16:00; original page marker: 13/45.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06; timestamp: 2026-09-03 11:04:48; original page marker: 7/45.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07; timestamp: 2026-09-03 11:06:53; original page marker: 8/45.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13; timestamp: 2026-09-03 11:24:02; original page marker: 14/45.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14; timestamp: 2026-09-03 11:25:25; original page marker: 15/45.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15; timestamp: 2026-09-03 11:27:45; original page marker: 16/45.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16; timestamp: 2026-09-03 11:29:19; original page marker: 17/45.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17; timestamp: 2026-09-03 11:30:49; original page marker: 18/45.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18; timestamp: 2026-09-03 11:31:31; original page marker: 19/45.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19; timestamp: 2026-09-03 11:31:55; original page marker: 20/45.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20; timestamp: 2026-09-03 11:34:07; original page marker: 21/45.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21; timestamp: 2026-09-03 11:34:47; original page marker: 22/45.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22; timestamp: 2026-09-03 11:36:06; original page marker: 23/45.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23; timestamp: 2026-09-03 11:37:19; original page marker: 24/45.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24; timestamp: 2026-09-03 11:42:53; original page marker: 25/45.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25; timestamp: 2026-09-03 11:45:39; original page marker: 26/45.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26; timestamp: 2026-09-03 11:46:53; original page marker: 27/45.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27; timestamp: 2026-09-03 11:48:33; original page marker: 28/45.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28; timestamp: 2026-09-03 11:49:30; original page marker: 29/45.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29; timestamp: 2026-09-03 11:51:04; original page marker: 30/45.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30; timestamp: 2026-09-03 11:51:28; original page marker: 31/45.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31; timestamp: 2026-09-03 11:52:36; original page marker: 32/45.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32; timestamp: 2026-09-03 11:52:59; original page marker: 33/45.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33; timestamp: 2026-09-03 11:53:59; original page marker: 34/45.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34; timestamp: 2026-09-03 11:55:11; original page marker: 35/45.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35; timestamp: 2026-09-03 11:56:52; original page marker: 36/45.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36; timestamp: 2026-09-03 11:57:49; original page marker: 37/45.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37; timestamp: 2026-09-03 11:58:57; original page marker: 38/45.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38; timestamp: 2026-09-03 11:59:57; original page marker: 39/45.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39; timestamp: 2026-09-03 12:00:58; original page marker: 40/45.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40; timestamp: 2026-09-03 12:01:50; original page marker: 41/45.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41; timestamp: 2026-09-03 12:02:49; original page marker: 42/45.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42; timestamp: 2026-09-03 12:03:19; original page marker: 43/45.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43; timestamp: 2026-09-03 12:04:25; original page marker: 44/45.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Closing workflow synthesized from official ChatGPT Work and Codex descriptions and the uploaded tutorial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6197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3569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96508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64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image" Target="../media/image1.png"/>
  <Relationship Id="rId3" Type="http://schemas.openxmlformats.org/officeDocument/2006/relationships/slideLayout" Target="../slideLayouts/slideLayout1.xml"/>
</Relationships>
</file>

<file path=ppt/slides/_rels/slide6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slideLayout" Target="../slideLayouts/slideLayout1.xml"/>
</Relationships>
</file>

<file path=ppt/slides/_rels/slide6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1.png"/>
  <Relationship Id="rId4" Type="http://schemas.openxmlformats.org/officeDocument/2006/relationships/slideLayout" Target="../slideLayouts/slideLayout1.xml"/>
</Relationships>
</file>

<file path=ppt/slides/_rels/slide6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2.png"/>
  <Relationship Id="rId4" Type="http://schemas.openxmlformats.org/officeDocument/2006/relationships/slideLayout" Target="../slideLayouts/slideLayout1.xml"/>
</Relationships>
</file>

<file path=ppt/slides/_rels/slide6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3.png"/>
  <Relationship Id="rId4" Type="http://schemas.openxmlformats.org/officeDocument/2006/relationships/slideLayout" Target="../slideLayouts/slideLayout1.xml"/>
</Relationships>
</file>

<file path=ppt/slides/_rels/slide6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4.png"/>
  <Relationship Id="rId4" Type="http://schemas.openxmlformats.org/officeDocument/2006/relationships/slideLayout" Target="../slideLayouts/slideLayout1.xml"/>
</Relationships>
</file>

<file path=ppt/slides/_rels/slide6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5.png"/>
  <Relationship Id="rId4" Type="http://schemas.openxmlformats.org/officeDocument/2006/relationships/slideLayout" Target="../slideLayouts/slideLayout1.xml"/>
</Relationships>
</file>

<file path=ppt/slides/_rels/slide6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6.png"/>
  <Relationship Id="rId4" Type="http://schemas.openxmlformats.org/officeDocument/2006/relationships/slideLayout" Target="../slideLayouts/slideLayout1.xml"/>
</Relationships>
</file>

<file path=ppt/slides/_rels/slide7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7.png"/>
  <Relationship Id="rId4" Type="http://schemas.openxmlformats.org/officeDocument/2006/relationships/slideLayout" Target="../slideLayouts/slideLayout1.xml"/>
</Relationships>
</file>

<file path=ppt/slides/_rels/slide7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8.png"/>
  <Relationship Id="rId4" Type="http://schemas.openxmlformats.org/officeDocument/2006/relationships/slideLayout" Target="../slideLayouts/slideLayout1.xml"/>
</Relationships>
</file>

<file path=ppt/slides/_rels/slide7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slideLayout" Target="../slideLayouts/slideLayout1.xml"/>
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12192000" cy="6858000"/>
          </a:xfrm>
          <a:prstGeom prst="rect">
            <a:avLst/>
          </a:prstGeom>
          <a:solidFill>
            <a:srgbClr val="08296B">
              <a:alpha val="92000"/>
            </a:srgbClr>
          </a:solidFill>
          <a:ln w="12700">
            <a:solidFill>
              <a:srgbClr val="0829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X </a:t>
            </a:r>
            <a:r>
              <a:rPr lang="zh-TW" alt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學力檢測</a:t>
            </a: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從第一次安裝到 ChatGPT Work 資料分析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95351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適合零基礎學員｜桌面版安裝、登入、模型選擇與 Work 入口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CC1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研習目標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4434840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3891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能完成 ChatGPT 桌面版安裝與登入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" y="4782312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能分辨 Chat、Work、Codex 的使用情境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" y="5129784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084064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能依任務選擇</a:t>
            </a: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適合的GPT推理等級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" y="5477256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431536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能開始用 Work </a:t>
            </a:r>
            <a:r>
              <a:rPr lang="en-US" sz="1300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6263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2026.09.04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本次研習路線圖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從安裝到實作，用同一套工作流程走完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課程導覽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B63CE">
                <a:alpha val="90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3441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325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先看懂 AI 工具版圖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13533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雲端、Work、本地端與 CLI 的分工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020824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B63CE">
                <a:alpha val="90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21305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1122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 GPT-5.6 模型選擇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213969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Sol、Terra、Luna 與推理等級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807208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291693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2898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 ChatGPT 桌面版安裝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00600" y="292608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方法一與方法二，逐步操作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593592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3703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3685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登入與第一次設定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00600" y="371246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以第一次使用者為例，走完整流程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379976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" y="44897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44714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轉入 Work 實作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00600" y="449884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Work 產出分析、簡報或 dashboard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577840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742432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講師提示：零基礎學員先掌握「入口」比背模型名稱更重要。先用 Chat 釐清問題，再用 Work 完成任務。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工具怎麼選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雲端、Work、本地端與 CLI 的實務取捨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研習版資訊圖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896112"/>
            <a:ext cx="11411712" cy="54406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data/2026_ai_工具選擇比較指南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158" y="987552"/>
            <a:ext cx="9293491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GPT-5.6 家族比較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Sol、Terra、Luna 的定位與方案差異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研習版資訊圖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896112"/>
            <a:ext cx="11411712" cy="54406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data/gpt_5.6_三模型比較資訊圖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158" y="987552"/>
            <a:ext cx="9293491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Chat、Work、Codex 怎麼選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先分入口，再選推理強度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研習版資訊圖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896112"/>
            <a:ext cx="11411712" cy="54406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data/chatgpt_2026_研習選擇指南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158" y="987552"/>
            <a:ext cx="9293491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安裝前 3 分鐘檢查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避免學員卡在帳號、權限或瀏覽器問題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安裝前準備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14300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blurRad="2286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帳號準備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2688" y="2057400"/>
            <a:ext cx="164592" cy="164592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9933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確認可收驗證信的 Email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32688" y="2743200"/>
            <a:ext cx="164592" cy="164592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6791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記得密碼或準備手機驗證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2688" y="3429000"/>
            <a:ext cx="164592" cy="164592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364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若用學校帳號，先確認是否允許登入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34840" y="114300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  <a:effectLst>
            <a:outerShdw blurRad="2286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90872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電腦與網路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27448" y="205740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9933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Windows 或 macOS 桌面環境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27448" y="274320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6791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可連上 chatgpt.com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27448" y="342900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364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若在校內網路，先確認是否被防火牆擋住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114300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2286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85632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權限與資料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522208" y="2057400"/>
            <a:ext cx="164592" cy="1645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19933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安裝程式權限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522208" y="2743200"/>
            <a:ext cx="164592" cy="1645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26791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截圖教學時避免露出個資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522208" y="3429000"/>
            <a:ext cx="164592" cy="1645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3364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未公開試題與敏感資料不得上傳雲端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7240" y="5715000"/>
            <a:ext cx="1060704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5843016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講師提示：本研習以「能跟著做」優先，學員不需要先理解所有模型名稱。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63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3A">
              <a:alpha val="65000"/>
            </a:srgbClr>
          </a:solidFill>
          <a:ln w="12700">
            <a:solidFill>
              <a:srgbClr val="07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ACC1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7432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方法一：從官方入口開始，依畫面完成安裝。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133088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接下來每一頁皆以「步驟編號 + 操作截圖 + 講師提示」呈現。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ChatGPT｜方法一｜步驟 01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10:56:04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確認下載來源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等待安裝程式完成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完成後再開啟 App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2/45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ChatGPT｜方法一｜步驟 02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10:56:49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73465"/>
            <a:ext cx="8531352" cy="439453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確認下載來源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等待安裝程式完成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完成後再開啟 App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3/45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ChatGPT｜方法一｜步驟 03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10:58:40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03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確認下載來源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等待安裝程式完成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完成後再開啟 App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4/45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ChatGPT｜方法一｜步驟 04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11:01:35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確認下載來源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等待安裝程式完成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完成後再開啟 App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5/45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ChatGPT｜方法一｜步驟 05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11:03:52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5709"/>
            <a:ext cx="8531352" cy="459004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05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確認下載來源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等待安裝程式完成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完成後再開啟 App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6/45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ChatGPT｜方法一｜步驟 06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11:04:48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06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確認下載來源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等待安裝程式完成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完成後再開啟 App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7/45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ChatGPT｜方法一｜步驟 07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11:06:53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07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確認下載來源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等待安裝程式完成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完成後再開啟 App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8/45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3A">
              <a:alpha val="65000"/>
            </a:srgbClr>
          </a:solidFill>
          <a:ln w="12700">
            <a:solidFill>
              <a:srgbClr val="07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ACC1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7432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方法二：當方法一不順時，使用替代入口完成安裝。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133088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接下來每一頁皆以「步驟編號 + 操作截圖 + 講師提示」呈現。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ChatGPT｜方法二｜步驟 01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11:08:36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若方法一失敗再用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留意瀏覽器提示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安裝完成後回到桌面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9/45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ChatGPT｜方法二｜步驟 02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11:13:51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若方法一失敗再用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留意瀏覽器提示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安裝完成後回到桌面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10/45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ChatGPT｜方法二｜步驟 10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11:14:30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52" y="1042416"/>
            <a:ext cx="8506152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10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若方法一失敗再用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留意瀏覽器提示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安裝完成後回到桌面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11/45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ChatGPT｜方法二｜步驟 11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11:15:19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93" y="1042416"/>
            <a:ext cx="8519470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若方法一失敗再用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留意瀏覽器提示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安裝完成後回到桌面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12/45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ChatGPT｜方法二｜步驟 12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11:16:00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93" y="1042416"/>
            <a:ext cx="8519470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若方法一失敗再用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留意瀏覽器提示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安裝完成後回到桌面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13/45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ChatGPT｜方法二｜步驟 06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11:04:48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06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若方法一失敗再用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留意瀏覽器提示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安裝完成後回到桌面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7/45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ChatGPT｜方法二｜步驟 07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11:06:53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07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若方法一失敗再用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留意瀏覽器提示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安裝完成後回到桌面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8/45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3A">
              <a:alpha val="65000"/>
            </a:srgbClr>
          </a:solidFill>
          <a:ln w="12700">
            <a:solidFill>
              <a:srgbClr val="07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ACC1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7432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以第一次使用者為例，完成登入、驗證與初始設定。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133088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接下來每一頁皆以「步驟編號 + 操作截圖 + 講師提示」呈現。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13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11:24:02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13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14/45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14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11:25:25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14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15/45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15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11:27:45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15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16/45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16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11:29:19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16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17/45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17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11:30:49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17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18/45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18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11:31:31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18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19/45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19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11:31:55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19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20/45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20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11:34:07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20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21/45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11:34:47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22/45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22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11:36:06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23/45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23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11:37:19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23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24/45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24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11:42:53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24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25/45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25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11:45:39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25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26/45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26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11:46:53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26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27/45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27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11:48:33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33" y="1042416"/>
            <a:ext cx="7241990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27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28/45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28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11:49:30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28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29/45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29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11:51:04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29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30/45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30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11:51:28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06" y="1042416"/>
            <a:ext cx="8471844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30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31/45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11:52:36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32/45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32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11:52:59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33/45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33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11:53:59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33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34/45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34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11:55:11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34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35/45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35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11:56:52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35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36/45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36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11:57:49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36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37/45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37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11:58:57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37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38/45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38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11:59:57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38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39/45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39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12:00:58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39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40/45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40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12:01:50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40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41/45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41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12:02:49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41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42/45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42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12:03:19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42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43/45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43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12:04:25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43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44/45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下一步：把安裝流程接到 Work 實作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把工具選擇轉成資料分析成果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收束與實作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建議現場實作任務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1783080"/>
            <a:ext cx="10652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87552" y="1947672"/>
            <a:ext cx="411480" cy="411480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0391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27632" y="1847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Chat 釐清需求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15968" y="185623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ChatGPT 協助整理「縣市學生學習能力檢測」資料分析目標。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2788920"/>
            <a:ext cx="10652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87552" y="2953512"/>
            <a:ext cx="411480" cy="4114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044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27632" y="28529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Work 產出成果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5968" y="286207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上傳資料或範例檔，要求產出摘要、圖表、簡報或 dashboard。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3794760"/>
            <a:ext cx="10652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7552" y="3959352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0507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27632" y="3858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必要時轉 Codex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15968" y="386791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只有在需要寫程式、自動化或除錯時，再進入 Codex。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3150"/>
            <a:ext cx="12192000" cy="6858000"/>
          </a:xfrm>
          <a:prstGeom prst="rect">
            <a:avLst/>
          </a:prstGeom>
          <a:solidFill>
            <a:srgbClr val="071A3A">
              <a:alpha val="65000"/>
            </a:srgbClr>
          </a:solidFill>
          <a:ln w="12700">
            <a:solidFill>
              <a:srgbClr val="07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ACC1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01863"/>
            <a:ext cx="8439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實作-ChatGPT</a:t>
            </a: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work </a:t>
            </a:r>
            <a:r>
              <a:rPr lang="en-US" sz="34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</a:t>
            </a:r>
            <a:r>
              <a:rPr lang="zh-TW" alt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Ｘ 學力檢測資料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27267698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75673" y="95198"/>
            <a:ext cx="131318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rPr dirty="0" err="1"/>
              <a:t>實作</a:t>
            </a:r>
            <a:endParaRPr dirty="0"/>
          </a:p>
        </p:txBody>
      </p:sp>
      <p:pic>
        <p:nvPicPr>
          <p:cNvPr id="3" name="Picture 2" descr="Snipaste_2026-09-03_13-24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719" y="952321"/>
            <a:ext cx="9619088" cy="568628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58230" y="182880"/>
            <a:ext cx="607249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rPr dirty="0" err="1"/>
              <a:t>範例實作</a:t>
            </a:r>
            <a:r>
              <a:rPr lang="en-US" dirty="0" err="1"/>
              <a:t>-以數學科為例</a:t>
            </a:r>
            <a:endParaRPr dirty="0"/>
          </a:p>
        </p:txBody>
      </p:sp>
      <p:pic>
        <p:nvPicPr>
          <p:cNvPr id="3" name="Picture 2" descr="Snipaste_2026-09-03_12-46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320" y="952321"/>
            <a:ext cx="5910406" cy="559092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51190" y="182880"/>
            <a:ext cx="248657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rPr lang="zh-TW" altLang="en-US" dirty="0">
                <a:latin typeface="+mj-lt"/>
              </a:rPr>
              <a:t>實作成果</a:t>
            </a:r>
            <a:endParaRPr dirty="0">
              <a:latin typeface="+mj-lt"/>
            </a:endParaRPr>
          </a:p>
        </p:txBody>
      </p:sp>
      <p:pic>
        <p:nvPicPr>
          <p:cNvPr id="3" name="Picture 2" descr="Snipaste_2026-09-03_13-35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258" y="1097280"/>
            <a:ext cx="8960443" cy="546729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3150"/>
            <a:ext cx="12192000" cy="6858000"/>
          </a:xfrm>
          <a:prstGeom prst="rect">
            <a:avLst/>
          </a:prstGeom>
          <a:solidFill>
            <a:srgbClr val="071A3A">
              <a:alpha val="65000"/>
            </a:srgbClr>
          </a:solidFill>
          <a:ln w="12700">
            <a:solidFill>
              <a:srgbClr val="071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Text 2"/>
          <p:cNvSpPr/>
          <p:nvPr/>
        </p:nvSpPr>
        <p:spPr>
          <a:xfrm>
            <a:off x="685799" y="914400"/>
            <a:ext cx="80554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400" b="1" dirty="0">
                <a:solidFill>
                  <a:srgbClr val="FACC15"/>
                </a:solidFill>
                <a:latin typeface="Microsoft JhengHei" pitchFamily="34" charset="0"/>
                <a:ea typeface="Microsoft JhengHei" pitchFamily="34" charset="-122"/>
              </a:rPr>
              <a:t>讓</a:t>
            </a:r>
            <a:r>
              <a:rPr lang="en-US" altLang="zh-TW" sz="3400" b="1" dirty="0">
                <a:solidFill>
                  <a:srgbClr val="FACC15"/>
                </a:solidFill>
                <a:latin typeface="Microsoft JhengHei" pitchFamily="34" charset="0"/>
                <a:ea typeface="Microsoft JhengHei" pitchFamily="34" charset="-122"/>
              </a:rPr>
              <a:t>AI </a:t>
            </a:r>
            <a:r>
              <a:rPr lang="zh-TW" altLang="en-US" sz="3400" b="1" dirty="0">
                <a:solidFill>
                  <a:srgbClr val="FACC15"/>
                </a:solidFill>
                <a:latin typeface="Microsoft JhengHei" pitchFamily="34" charset="0"/>
                <a:ea typeface="Microsoft JhengHei" pitchFamily="34" charset="-122"/>
              </a:rPr>
              <a:t>幫你分析學力檢測資料的提示詞要點 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59970" y="3931920"/>
            <a:ext cx="8439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14350" indent="-514350">
              <a:buAutoNum type="arabicPeriod"/>
            </a:pPr>
            <a:r>
              <a:rPr lang="zh-TW" altLang="en-US" sz="3400" dirty="0">
                <a:solidFill>
                  <a:schemeClr val="bg1"/>
                </a:solidFill>
              </a:rPr>
              <a:t>良好的參考資料（學力檢測成果報告、題本）</a:t>
            </a:r>
            <a:endParaRPr lang="en-US" altLang="zh-TW" sz="3400" dirty="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r>
              <a:rPr lang="en-US" sz="3400" dirty="0" err="1">
                <a:solidFill>
                  <a:schemeClr val="bg1"/>
                </a:solidFill>
              </a:rPr>
              <a:t>你所要分析的字料（班平均、個人成績、答對率</a:t>
            </a:r>
            <a:r>
              <a:rPr lang="en-US" sz="3400" dirty="0">
                <a:solidFill>
                  <a:schemeClr val="bg1"/>
                </a:solidFill>
              </a:rPr>
              <a:t>….）</a:t>
            </a:r>
          </a:p>
          <a:p>
            <a:pPr marL="514350" indent="-514350">
              <a:buAutoNum type="arabicPeriod"/>
            </a:pPr>
            <a:r>
              <a:rPr lang="en-US" sz="3400" dirty="0" err="1">
                <a:solidFill>
                  <a:schemeClr val="bg1"/>
                </a:solidFill>
              </a:rPr>
              <a:t>精準的提示詞</a:t>
            </a:r>
            <a:endParaRPr lang="en-US" sz="3400" dirty="0">
              <a:solidFill>
                <a:schemeClr val="bg1"/>
              </a:solidFill>
            </a:endParaRPr>
          </a:p>
          <a:p>
            <a:pPr marL="971550" lvl="1" indent="-514350">
              <a:buFont typeface="+mj-lt"/>
              <a:buAutoNum type="arabicParenR"/>
            </a:pPr>
            <a:r>
              <a:rPr lang="en-US" sz="3400" dirty="0" err="1">
                <a:solidFill>
                  <a:schemeClr val="bg1"/>
                </a:solidFill>
              </a:rPr>
              <a:t>層次：學年、班級、個人</a:t>
            </a:r>
            <a:endParaRPr lang="en-US" sz="3400" dirty="0">
              <a:solidFill>
                <a:schemeClr val="bg1"/>
              </a:solidFill>
            </a:endParaRPr>
          </a:p>
          <a:p>
            <a:pPr marL="971550" lvl="1" indent="-514350">
              <a:buFont typeface="+mj-lt"/>
              <a:buAutoNum type="arabicParenR"/>
            </a:pPr>
            <a:r>
              <a:rPr lang="en-US" sz="3400" dirty="0" err="1">
                <a:solidFill>
                  <a:schemeClr val="bg1"/>
                </a:solidFill>
              </a:rPr>
              <a:t>分析方法：TOWS</a:t>
            </a:r>
            <a:r>
              <a:rPr lang="en-US" sz="3400" dirty="0">
                <a:solidFill>
                  <a:schemeClr val="bg1"/>
                </a:solidFill>
              </a:rPr>
              <a:t>…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3400" dirty="0" err="1">
                <a:solidFill>
                  <a:schemeClr val="bg1"/>
                </a:solidFill>
              </a:rPr>
              <a:t>優勢、劣勢、教學策略、字數</a:t>
            </a:r>
            <a:endParaRPr lang="en-US" sz="3400" dirty="0">
              <a:solidFill>
                <a:schemeClr val="bg1"/>
              </a:solidFill>
            </a:endParaRPr>
          </a:p>
          <a:p>
            <a:pPr marL="971550" lvl="1" indent="-514350">
              <a:buFont typeface="+mj-lt"/>
              <a:buAutoNum type="arabicParenR"/>
            </a:pPr>
            <a:endParaRPr lang="en-US" sz="3400" dirty="0">
              <a:solidFill>
                <a:schemeClr val="bg1"/>
              </a:solidFill>
            </a:endParaRPr>
          </a:p>
          <a:p>
            <a:endParaRPr lang="en-US" sz="3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9687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3150"/>
            <a:ext cx="12192000" cy="6858000"/>
          </a:xfrm>
          <a:prstGeom prst="rect">
            <a:avLst/>
          </a:prstGeom>
          <a:solidFill>
            <a:srgbClr val="071A3A">
              <a:alpha val="65000"/>
            </a:srgbClr>
          </a:solidFill>
          <a:ln w="12700">
            <a:solidFill>
              <a:srgbClr val="071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Text 2"/>
          <p:cNvSpPr/>
          <p:nvPr/>
        </p:nvSpPr>
        <p:spPr>
          <a:xfrm>
            <a:off x="947056" y="914400"/>
            <a:ext cx="80554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 err="1">
                <a:solidFill>
                  <a:schemeClr val="bg1"/>
                </a:solidFill>
              </a:rPr>
              <a:t>下一步：你可以這樣改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64770" y="3291840"/>
            <a:ext cx="8439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14350" indent="-514350">
              <a:buAutoNum type="arabicPeriod"/>
            </a:pPr>
            <a:r>
              <a:rPr lang="zh-TW" altLang="en-US" sz="3400" dirty="0">
                <a:solidFill>
                  <a:schemeClr val="bg1"/>
                </a:solidFill>
              </a:rPr>
              <a:t>把提示詞改成國語科、英語科。</a:t>
            </a:r>
            <a:endParaRPr lang="en-US" altLang="zh-TW" sz="3400" dirty="0">
              <a:solidFill>
                <a:schemeClr val="bg1"/>
              </a:solidFill>
            </a:endParaRPr>
          </a:p>
          <a:p>
            <a:r>
              <a:rPr lang="zh-TW" altLang="en-US" sz="3400" dirty="0">
                <a:solidFill>
                  <a:schemeClr val="bg1"/>
                </a:solidFill>
              </a:rPr>
              <a:t>（記得要放相對應的資料）</a:t>
            </a:r>
            <a:br>
              <a:rPr lang="en-US" altLang="zh-TW" sz="3400" dirty="0">
                <a:solidFill>
                  <a:schemeClr val="bg1"/>
                </a:solidFill>
              </a:rPr>
            </a:br>
            <a:r>
              <a:rPr lang="en-US" altLang="zh-TW" sz="3400" dirty="0">
                <a:solidFill>
                  <a:schemeClr val="bg1"/>
                </a:solidFill>
              </a:rPr>
              <a:t>2.</a:t>
            </a:r>
            <a:r>
              <a:rPr lang="zh-TW" altLang="en-US" sz="3400" dirty="0">
                <a:solidFill>
                  <a:schemeClr val="bg1"/>
                </a:solidFill>
              </a:rPr>
              <a:t> 使用不同的年級。</a:t>
            </a:r>
            <a:endParaRPr lang="en-US" altLang="zh-TW" sz="3400" dirty="0">
              <a:solidFill>
                <a:schemeClr val="bg1"/>
              </a:solidFill>
            </a:endParaRPr>
          </a:p>
          <a:p>
            <a:r>
              <a:rPr lang="en-US" altLang="zh-TW" sz="3400" dirty="0">
                <a:solidFill>
                  <a:schemeClr val="bg1"/>
                </a:solidFill>
              </a:rPr>
              <a:t>3. </a:t>
            </a:r>
            <a:r>
              <a:rPr lang="zh-TW" altLang="en-US" sz="3400" dirty="0">
                <a:solidFill>
                  <a:schemeClr val="bg1"/>
                </a:solidFill>
              </a:rPr>
              <a:t>加入不同的資料。</a:t>
            </a:r>
            <a:endParaRPr lang="en-US" altLang="zh-TW" sz="3400" dirty="0">
              <a:solidFill>
                <a:schemeClr val="bg1"/>
              </a:solidFill>
            </a:endParaRPr>
          </a:p>
          <a:p>
            <a:endParaRPr lang="en-US" sz="3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3751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731520"/>
            <a:ext cx="4206240" cy="347472"/>
          </a:xfrm>
          <a:prstGeom prst="roundRect">
            <a:avLst>
              <a:gd name="adj" fmla="val 21053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731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🌟 研習專用 ｜ 2026 SAAA 學力檢測實務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" y="117043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去識別化工具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9933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實機操作流程與資安防護指南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2542032"/>
            <a:ext cx="694944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542032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💡 支援 7 大類報表 · 100% 本機離線運算 · 零個資上傳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063240"/>
            <a:ext cx="6949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2004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研習目標與核心技能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358444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能理解 SAAA 7 大類報表特徵與「學生代碼實為中文姓名」之特殊架構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968496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能依分析情境正確切換「研究分析模式」與「公開資料模式」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4352544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能熟練執行 100% 本地離線去識別化與 Markdown 全格式匯出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473659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能恪守「對照總表校內密封、脫敏資料交付 AI」之資安雙軌鐵則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55321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 研習日期：115.09.04（新竹縣學力研習） ｜ 臺中教育大學 SAAA 研發團隊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課程導覽 ｜ 更新日：2026.09.03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本次操作與資安指引路線圖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從資料規格理解到 AI 安全交付，用同一套標準作業程序 (SOP) 走完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143000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271016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271016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12984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 SAAA 評量資料結構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0" y="129844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辨識個人成績、作答反應、答對率等 7 大類 Excel 與題本 PDF，掌握「代碼實存真名」之特殊架構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1929384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057400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057400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00200" y="20848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檔案批次載入與動態分類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0" y="208483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一鍵拖曳整個評量資料夾，即時核對 6 大指標卡，確認全年級班級與科目檔案全數就緒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2715768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843784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284378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600200" y="28712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去識別化模式取捨決策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0" y="287121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 AI 首選「研究分析模式」（跨科假名對齊），政府公開選「公開資料模式」（不可逆刪除）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" y="350215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3630168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3630168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600200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機關別名與 Markdown 輸出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29200" y="36576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隨機指派安全校名（如阿里山國小）、教育代碼 999999、移除座號，並產出可直接貼給 AI 的 Markdown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" y="4288536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" y="4416552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" y="4416552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600200" y="44439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本機執行與對照總表密封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029200" y="4443984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記憶體三階段處理＋隱私審計 100% 通過（0洩漏），並落實 mapping_table.xlsx 校內密件隔離存放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40080" y="5193792"/>
            <a:ext cx="10908792" cy="43891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5193792"/>
            <a:ext cx="10908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💡 講師提示：交付外部 AI 時，學力檢測資料務必在地端完成脫敏，且 mapping_table 切勿交給 AI。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01 拖曳評量資料夾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1_dropzone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確認右上角 100% 本地離線運算徽章，確保無任何個資上傳雲端。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直接將從 SAAA 匯出的整包資料夾或 .xlsx/.zip 拖曳進虛線框。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支援多班級、多年級、多科目報表混合同步匯入。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純前端 JavaScript 記憶體解析架構，拔掉網路線亦可高速運行。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步驟進度：1/8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01-1 查閱資料型態手冊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01-1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2_handbook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01-1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點擊手風琴展開 7 大類 Excel 與題本 PDF 結構對照表。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SAAA 特殊架構提醒：作答反應與答對率「學生代碼」欄位實為姓名。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卡片式個人成績 D3 座號清除時，完好保留 F3 等級描述。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工具專案適配「代碼欄位實存真名」現象，能自動進行姓名辨識與脫敏。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步驟進度：2/8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01-2 六大指標分類統計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01-2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3_files_summary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01-2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成功載入 10 份模擬資料 Excel 檔案。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分類計數：4 檔個人成績（108 位學生）、1 檔作答反應、2 檔答對率、1 檔班平均、2 檔試題分析。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右上角即時彈出綠色「成功載入 10 個評量檔案」提示通知。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分類指示卡協助教師在執行前一眼確認全年級檔案是否全數到位。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步驟進度：3/8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02 去識別化模式切換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4_modes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🔬 研究分析模式（推薦交付 AI）：生成跨科一致假名代碼（如 STU_115_0001）。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🌐 公開資料模式：徹底抹除姓名與座號，不產出對照表，達不可逆最高隱私。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嚴禁使用校內遮罩：交付外部 AI 嚴禁使用林*偉等部分遮蔽模式。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研究分析模式專為 AI 跨科診斷設計，同時產出離線對照總表供校端保管。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步驟進度：4/8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03 機關別名與格式微調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5_params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03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學校名稱由安全別名池隨機指派（如阿里山國小），鎖定唯讀防誤填。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學校代碼固定指派為標準教育虛擬代號 999999。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座號預設選擇「移除座號 (最高安全)」，杜絕個資拼圖。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輸出格式選擇「全格式」，同步產出輕量 Markdown 表格。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Markdown 格式精簡高效，可直接整表複製貼入 ChatGPT 對話框進行解析。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步驟進度：5/8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04 啟動去識別化處理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6_execute_button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點擊藍色大按鈕「開始執行去識別化並打包下載」。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第一階段：全域掃描 108 位學生名冊並建立代碼映射表。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第二階段：逐檔轉換座標、標籤、表頭校名與生成多格式。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第三階段：全域隱私審計與 ZIP 壓縮封裝。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全程採用記憶體串流運算，百份報表亦可在數秒內無感完成。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步驟進度：6/8</a:t>
            </a:r>
            <a:endParaRPr lang="en-US" sz="9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04-1 成果彈窗與零洩漏保證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04-1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7_completion_modal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04-1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彈出 SweetAlert2 成果視窗，明確顯示處理 10 份檔案。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隱私安全稽核：100% 通過（原始校名、學生姓名洩漏次數均為 0）。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系統自動觸發 ZIP 壓縮檔案下載至本機硬碟。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提供「再次下載 ZIP」綠色按鈕備用。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零洩漏安全閘門確認所有輸出檔案無任何個資殘留，保障行政合規。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步驟進度：7/8</a:t>
            </a:r>
            <a:endParaRPr lang="en-US" sz="9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04-2 終端機日誌與對照總表SOP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04-2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8_terminal_log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04-2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終端機詳細記錄各階段運算耗時與全域隱私審計結果。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解壓後包含脫敏 Excel/JSON/MD 檔案與 mapping_table.xlsx。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⚠️ 對照總表隔離 SOP：mapping_table 記載真實姓名，切勿交付外部 AI！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對照總表務必留存在校端內部離線儲存媒體進行密件管理。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嚴格遵守「脫敏檔案交付 AI、對照總表校端密封」之資安雙軌原則。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步驟進度：8/8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研習總結 ｜ AI 時代評量資料去識別化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從行政合規到智慧教學的三大鐵則 (SOP)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確保資料在安全前提下發揮最大教學診斷價值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234440"/>
            <a:ext cx="3493008" cy="438912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5544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54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鐵則 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地端脫敏 · 絕不上傳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743200"/>
            <a:ext cx="29443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評量資料在進入任何 AI 模型前，必須在校端本地離線環境完成脫敏。嚴禁將含真實學生姓名之原始 SAAA 檔案直接上傳至任何未受權的公開雲端服務。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1234440"/>
            <a:ext cx="3493008" cy="438912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15544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1554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鐵則 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17720" y="214884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跨科假名 · 拒絕遮罩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17720" y="2743200"/>
            <a:ext cx="29443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交付外部 AI 應採用「研究分析模式」之跨科假名代碼（如 STU_115_0001），既能維繫學生向度學習輪廓，又能杜絕 AI 透過字數或關聯特徵反向破解。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46720" y="1234440"/>
            <a:ext cx="3493008" cy="438912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15544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1554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鐵則 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21040" y="214884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對照總表 · 密件隔離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21040" y="2743200"/>
            <a:ext cx="29443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生成的 mapping_table.xlsx 記載真實身分對應關係，屬於校方法定個資。必須與脫敏檔案完全物理隔離，僅限校內受權行政人員離線保管。</a:t>
            </a:r>
            <a:endParaRPr lang="en-US" sz="11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6402"/>
            <a:ext cx="12192000" cy="6858000"/>
          </a:xfrm>
          <a:prstGeom prst="rect">
            <a:avLst/>
          </a:prstGeom>
          <a:solidFill>
            <a:srgbClr val="071A3A">
              <a:alpha val="65000"/>
            </a:srgbClr>
          </a:solidFill>
          <a:ln w="12700">
            <a:solidFill>
              <a:srgbClr val="071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Text 2"/>
          <p:cNvSpPr/>
          <p:nvPr/>
        </p:nvSpPr>
        <p:spPr>
          <a:xfrm>
            <a:off x="947056" y="914400"/>
            <a:ext cx="80554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64770" y="3291840"/>
            <a:ext cx="8439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80D1A66-FBDD-D6B2-9E01-26810C070026}"/>
              </a:ext>
            </a:extLst>
          </p:cNvPr>
          <p:cNvSpPr/>
          <p:nvPr/>
        </p:nvSpPr>
        <p:spPr>
          <a:xfrm>
            <a:off x="1656048" y="3154680"/>
            <a:ext cx="80554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chemeClr val="bg1"/>
                </a:solidFill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4768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95</ns0:TotalTime>
  <ns0:Words>3169</ns0:Words>
  <ns0:Application>Microsoft Macintosh PowerPoint</ns0:Application>
  <ns0:PresentationFormat>寬螢幕</ns0:PresentationFormat>
  <ns0:Paragraphs>660</ns0:Paragraphs>
  <ns0:Slides>73</ns0:Slides>
  <ns0:Notes>59</ns0:Notes>
  <ns0:HiddenSlides>0</ns0:HiddenSlides>
  <ns0:MMClips>0</ns0:MMClips>
  <ns0:ScaleCrop>false</ns0:ScaleCrop>
  <ns0:HeadingPairs>
    <ns1:vector size="6" baseType="variant">
      <ns1:variant>
        <ns1:lpstr>使用字型</ns1:lpstr>
      </ns1:variant>
      <ns1:variant>
        <ns1:i4>3</ns1:i4>
      </ns1:variant>
      <ns1:variant>
        <ns1:lpstr>佈景主題</ns1:lpstr>
      </ns1:variant>
      <ns1:variant>
        <ns1:i4>1</ns1:i4>
      </ns1:variant>
      <ns1:variant>
        <ns1:lpstr>投影片標題</ns1:lpstr>
      </ns1:variant>
      <ns1:variant>
        <ns1:i4>62</ns1:i4>
      </ns1:variant>
    </ns1:vector>
  </ns0:HeadingPairs>
  <ns0:TitlesOfParts>
    <ns1:vector size="66" baseType="lpstr">
      <ns1:lpstr>Microsoft JhengHei</ns1:lpstr>
      <ns1:lpstr>Arial</ns1:lpstr>
      <ns1:lpstr>Calibri</ns1:lpstr>
      <ns1:lpstr>Office Theme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</ns1:vector>
  </ns0:TitlesOfParts>
  <ns0:Company>OpenAI</ns0:Company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 2026 研習版：安裝、登入、Work 與模型選擇</dc:title>
  <dc:subject>ChatGPT 2026 研習版</dc:subject>
  <dc:creator>OpenAI ChatGPT</dc:creator>
  <cp:lastModifiedBy>liangchengyu-for-work</cp:lastModifiedBy>
  <cp:revision>5</cp:revision>
  <dcterms:created xsi:type="dcterms:W3CDTF">2026-09-03T04:56:41Z</dcterms:created>
  <dcterms:modified xsi:type="dcterms:W3CDTF">2026-09-03T07:39:13Z</dcterms:modified>
</cp:coreProperties>
</file>